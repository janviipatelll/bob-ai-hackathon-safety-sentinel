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 (MS)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Calibri (MS) Italics" panose="020B0604020202020204" charset="0"/>
      <p:regular r:id="rId17"/>
    </p:embeddedFont>
    <p:embeddedFont>
      <p:font typeface="Cambria Bold" panose="020408030504060302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38960" y="7680960"/>
            <a:ext cx="4663440" cy="4663440"/>
            <a:chOff x="0" y="0"/>
            <a:chExt cx="6217920" cy="6217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17920" cy="6217920"/>
            </a:xfrm>
            <a:custGeom>
              <a:avLst/>
              <a:gdLst/>
              <a:ahLst/>
              <a:cxnLst/>
              <a:rect l="l" t="t" r="r" b="b"/>
              <a:pathLst>
                <a:path w="6217920" h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910560" y="6309360"/>
            <a:ext cx="2743200" cy="2743200"/>
            <a:chOff x="0" y="0"/>
            <a:chExt cx="3657600" cy="3657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3657600"/>
            </a:xfrm>
            <a:custGeom>
              <a:avLst/>
              <a:gdLst/>
              <a:ahLst/>
              <a:cxnLst/>
              <a:rect l="l" t="t" r="r" b="b"/>
              <a:pathLst>
                <a:path w="3657600" h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1C7293">
                <a:alpha val="41961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441680" y="1234440"/>
            <a:ext cx="1645920" cy="1645920"/>
            <a:chOff x="0" y="0"/>
            <a:chExt cx="2194560" cy="21945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02C39A">
                <a:alpha val="1568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7280" y="3017520"/>
            <a:ext cx="13030200" cy="1508760"/>
            <a:chOff x="0" y="0"/>
            <a:chExt cx="17373600" cy="2011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373600" cy="2011680"/>
            </a:xfrm>
            <a:custGeom>
              <a:avLst/>
              <a:gdLst/>
              <a:ahLst/>
              <a:cxnLst/>
              <a:rect l="l" t="t" r="r" b="b"/>
              <a:pathLst>
                <a:path w="17373600" h="2011680">
                  <a:moveTo>
                    <a:pt x="0" y="0"/>
                  </a:moveTo>
                  <a:lnTo>
                    <a:pt x="17373600" y="0"/>
                  </a:lnTo>
                  <a:lnTo>
                    <a:pt x="17373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279" b="-11827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7373600" cy="2030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SafetySentinel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7280" y="4457700"/>
            <a:ext cx="13030200" cy="754380"/>
            <a:chOff x="0" y="0"/>
            <a:chExt cx="17373600" cy="1005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373600" cy="1005840"/>
            </a:xfrm>
            <a:custGeom>
              <a:avLst/>
              <a:gdLst/>
              <a:ahLst/>
              <a:cxnLst/>
              <a:rect l="l" t="t" r="r" b="b"/>
              <a:pathLst>
                <a:path w="17373600" h="1005840">
                  <a:moveTo>
                    <a:pt x="0" y="0"/>
                  </a:moveTo>
                  <a:lnTo>
                    <a:pt x="17373600" y="0"/>
                  </a:lnTo>
                  <a:lnTo>
                    <a:pt x="1737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559" b="-2865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7373600" cy="107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Drug Safety Signal Detection &amp; Regulatory Submission Readiness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7280" y="5486400"/>
            <a:ext cx="12070080" cy="1097280"/>
            <a:chOff x="0" y="0"/>
            <a:chExt cx="16093440" cy="14630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093439" cy="1463040"/>
            </a:xfrm>
            <a:custGeom>
              <a:avLst/>
              <a:gdLst/>
              <a:ahLst/>
              <a:cxnLst/>
              <a:rect l="l" t="t" r="r" b="b"/>
              <a:pathLst>
                <a:path w="16093439" h="1463040">
                  <a:moveTo>
                    <a:pt x="0" y="0"/>
                  </a:moveTo>
                  <a:lnTo>
                    <a:pt x="16093439" y="0"/>
                  </a:lnTo>
                  <a:lnTo>
                    <a:pt x="16093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609344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i="1">
                  <a:solidFill>
                    <a:srgbClr val="02C3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millions of safety reports and thousands of dossier sections to a prioritized, explainable review queue.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7280" y="9189720"/>
            <a:ext cx="8229600" cy="548640"/>
            <a:chOff x="0" y="0"/>
            <a:chExt cx="1097280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FA6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SafetySentinel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766813" y="0"/>
            <a:ext cx="5521187" cy="1028700"/>
            <a:chOff x="0" y="0"/>
            <a:chExt cx="1454140" cy="270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54140" cy="270933"/>
            </a:xfrm>
            <a:custGeom>
              <a:avLst/>
              <a:gdLst/>
              <a:ahLst/>
              <a:cxnLst/>
              <a:rect l="l" t="t" r="r" b="b"/>
              <a:pathLst>
                <a:path w="1454140" h="270933">
                  <a:moveTo>
                    <a:pt x="0" y="0"/>
                  </a:moveTo>
                  <a:lnTo>
                    <a:pt x="1454140" y="0"/>
                  </a:lnTo>
                  <a:lnTo>
                    <a:pt x="145414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BFCF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454140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766813" y="0"/>
            <a:ext cx="5521187" cy="1028700"/>
          </a:xfrm>
          <a:custGeom>
            <a:avLst/>
            <a:gdLst/>
            <a:ahLst/>
            <a:cxnLst/>
            <a:rect l="l" t="t" r="r" b="b"/>
            <a:pathLst>
              <a:path w="5521187" h="1028700">
                <a:moveTo>
                  <a:pt x="0" y="0"/>
                </a:moveTo>
                <a:lnTo>
                  <a:pt x="5521187" y="0"/>
                </a:lnTo>
                <a:lnTo>
                  <a:pt x="55211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0" y="0"/>
            <a:ext cx="2575466" cy="1234440"/>
            <a:chOff x="0" y="0"/>
            <a:chExt cx="3433954" cy="164592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3433954" cy="1645920"/>
              <a:chOff x="0" y="0"/>
              <a:chExt cx="612714" cy="29367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12714" cy="293679"/>
              </a:xfrm>
              <a:custGeom>
                <a:avLst/>
                <a:gdLst/>
                <a:ahLst/>
                <a:cxnLst/>
                <a:rect l="l" t="t" r="r" b="b"/>
                <a:pathLst>
                  <a:path w="612714" h="293679">
                    <a:moveTo>
                      <a:pt x="0" y="0"/>
                    </a:moveTo>
                    <a:lnTo>
                      <a:pt x="612714" y="0"/>
                    </a:lnTo>
                    <a:lnTo>
                      <a:pt x="612714" y="293679"/>
                    </a:lnTo>
                    <a:lnTo>
                      <a:pt x="0" y="293679"/>
                    </a:lnTo>
                    <a:close/>
                  </a:path>
                </a:pathLst>
              </a:custGeom>
              <a:solidFill>
                <a:srgbClr val="FBFCFD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28575"/>
                <a:ext cx="612714" cy="3222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99"/>
                  </a:lnSpc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0" y="0"/>
              <a:ext cx="3285183" cy="1645920"/>
            </a:xfrm>
            <a:custGeom>
              <a:avLst/>
              <a:gdLst/>
              <a:ahLst/>
              <a:cxnLst/>
              <a:rect l="l" t="t" r="r" b="b"/>
              <a:pathLst>
                <a:path w="3285183" h="1645920">
                  <a:moveTo>
                    <a:pt x="0" y="0"/>
                  </a:moveTo>
                  <a:lnTo>
                    <a:pt x="3285183" y="0"/>
                  </a:lnTo>
                  <a:lnTo>
                    <a:pt x="3285183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71650" y="7143750"/>
            <a:ext cx="4967288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250" i="1" u="none" strike="noStrike">
                <a:solidFill>
                  <a:srgbClr val="02C39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Team members-</a:t>
            </a: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250" i="1" u="none" strike="noStrike">
                <a:solidFill>
                  <a:srgbClr val="02C39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Patel Janvi Dirgeshkumar (23bph050)</a:t>
            </a: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250" i="1" u="none" strike="noStrike">
                <a:solidFill>
                  <a:srgbClr val="02C39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Thakkar Priyanshi Sanjivkumar(23bph098)</a:t>
            </a: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250" i="1" u="none" strike="noStrike">
                <a:solidFill>
                  <a:srgbClr val="02C39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Pandit Devanshi Krushnakumar(23bph035)</a:t>
            </a: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250" i="1" u="none" strike="noStrike">
                <a:solidFill>
                  <a:srgbClr val="02C39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Dabhi Divyaraje Vijaysinh (23bph008)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52120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463" b="-3234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— Pharmacovigilance: Drowning in Reports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500" y="1261872"/>
            <a:ext cx="15773400" cy="480060"/>
            <a:chOff x="0" y="0"/>
            <a:chExt cx="210312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evidence for an emerging safety signal usually already exists — buried in volume.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2125980"/>
            <a:ext cx="5897880" cy="7269480"/>
            <a:chOff x="0" y="0"/>
            <a:chExt cx="7863840" cy="96926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63840" cy="9692640"/>
            </a:xfrm>
            <a:custGeom>
              <a:avLst/>
              <a:gdLst/>
              <a:ahLst/>
              <a:cxnLst/>
              <a:rect l="l" t="t" r="r" b="b"/>
              <a:pathLst>
                <a:path w="7863840" h="9692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717536" y="0"/>
                  </a:lnTo>
                  <a:cubicBezTo>
                    <a:pt x="7798308" y="0"/>
                    <a:pt x="7863840" y="65532"/>
                    <a:pt x="7863840" y="146304"/>
                  </a:cubicBezTo>
                  <a:lnTo>
                    <a:pt x="7863840" y="9546336"/>
                  </a:lnTo>
                  <a:cubicBezTo>
                    <a:pt x="7863840" y="9627108"/>
                    <a:pt x="7798308" y="9692640"/>
                    <a:pt x="7717536" y="9692640"/>
                  </a:cubicBezTo>
                  <a:lnTo>
                    <a:pt x="146304" y="9692640"/>
                  </a:lnTo>
                  <a:cubicBezTo>
                    <a:pt x="65532" y="9692640"/>
                    <a:pt x="0" y="9627108"/>
                    <a:pt x="0" y="954633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0120" y="3634740"/>
            <a:ext cx="5349240" cy="754380"/>
            <a:chOff x="0" y="0"/>
            <a:chExt cx="7132320" cy="10058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132320" cy="1005840"/>
            </a:xfrm>
            <a:custGeom>
              <a:avLst/>
              <a:gdLst/>
              <a:ahLst/>
              <a:cxnLst/>
              <a:rect l="l" t="t" r="r" b="b"/>
              <a:pathLst>
                <a:path w="7132320" h="1005840">
                  <a:moveTo>
                    <a:pt x="0" y="0"/>
                  </a:moveTo>
                  <a:lnTo>
                    <a:pt x="7132320" y="0"/>
                  </a:lnTo>
                  <a:lnTo>
                    <a:pt x="7132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166" b="-8816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132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Adverse-event reports now held in FDA's FAERS database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rot="13560">
            <a:off x="1224896" y="4590097"/>
            <a:ext cx="4819688" cy="0"/>
          </a:xfrm>
          <a:prstGeom prst="line">
            <a:avLst/>
          </a:prstGeom>
          <a:ln w="9525" cap="rnd">
            <a:solidFill>
              <a:srgbClr val="C9D9E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960120" y="6035040"/>
            <a:ext cx="5349240" cy="754380"/>
            <a:chOff x="0" y="0"/>
            <a:chExt cx="713232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32320" cy="1005840"/>
            </a:xfrm>
            <a:custGeom>
              <a:avLst/>
              <a:gdLst/>
              <a:ahLst/>
              <a:cxnLst/>
              <a:rect l="l" t="t" r="r" b="b"/>
              <a:pathLst>
                <a:path w="7132320" h="1005840">
                  <a:moveTo>
                    <a:pt x="0" y="0"/>
                  </a:moveTo>
                  <a:lnTo>
                    <a:pt x="7132320" y="0"/>
                  </a:lnTo>
                  <a:lnTo>
                    <a:pt x="7132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166" b="-8816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132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reports logged into FAERS every year at current volumes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rot="13560">
            <a:off x="1224896" y="6990397"/>
            <a:ext cx="4819688" cy="0"/>
          </a:xfrm>
          <a:prstGeom prst="line">
            <a:avLst/>
          </a:prstGeom>
          <a:ln w="9525" cap="rnd">
            <a:solidFill>
              <a:srgbClr val="C9D9E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3"/>
          <p:cNvGrpSpPr/>
          <p:nvPr/>
        </p:nvGrpSpPr>
        <p:grpSpPr>
          <a:xfrm>
            <a:off x="960120" y="8435340"/>
            <a:ext cx="5349240" cy="754380"/>
            <a:chOff x="0" y="0"/>
            <a:chExt cx="7132320" cy="10058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32320" cy="1005840"/>
            </a:xfrm>
            <a:custGeom>
              <a:avLst/>
              <a:gdLst/>
              <a:ahLst/>
              <a:cxnLst/>
              <a:rect l="l" t="t" r="r" b="b"/>
              <a:pathLst>
                <a:path w="7132320" h="1005840">
                  <a:moveTo>
                    <a:pt x="0" y="0"/>
                  </a:moveTo>
                  <a:lnTo>
                    <a:pt x="7132320" y="0"/>
                  </a:lnTo>
                  <a:lnTo>
                    <a:pt x="7132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166" b="-8816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132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Growth in annual reports received, 2014 → 2025 alone</a:t>
              </a:r>
            </a:p>
          </p:txBody>
        </p:sp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1138428"/>
            <a:ext cx="12673584" cy="6638544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6995160" y="6926580"/>
            <a:ext cx="10561320" cy="2537460"/>
            <a:chOff x="0" y="0"/>
            <a:chExt cx="14081760" cy="3383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081761" cy="3383280"/>
            </a:xfrm>
            <a:custGeom>
              <a:avLst/>
              <a:gdLst/>
              <a:ahLst/>
              <a:cxnLst/>
              <a:rect l="l" t="t" r="r" b="b"/>
              <a:pathLst>
                <a:path w="14081761" h="3383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935456" y="0"/>
                  </a:lnTo>
                  <a:cubicBezTo>
                    <a:pt x="14016228" y="0"/>
                    <a:pt x="14081761" y="65532"/>
                    <a:pt x="14081761" y="146304"/>
                  </a:cubicBezTo>
                  <a:lnTo>
                    <a:pt x="14081761" y="3236976"/>
                  </a:lnTo>
                  <a:cubicBezTo>
                    <a:pt x="14081761" y="3317748"/>
                    <a:pt x="14016228" y="3383280"/>
                    <a:pt x="1393545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FBEDE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38060" y="7132320"/>
            <a:ext cx="9875520" cy="480060"/>
            <a:chOff x="0" y="0"/>
            <a:chExt cx="13167360" cy="6400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167361" cy="640080"/>
            </a:xfrm>
            <a:custGeom>
              <a:avLst/>
              <a:gdLst/>
              <a:ahLst/>
              <a:cxnLst/>
              <a:rect l="l" t="t" r="r" b="b"/>
              <a:pathLst>
                <a:path w="13167361" h="640080">
                  <a:moveTo>
                    <a:pt x="0" y="0"/>
                  </a:moveTo>
                  <a:lnTo>
                    <a:pt x="13167361" y="0"/>
                  </a:lnTo>
                  <a:lnTo>
                    <a:pt x="1316736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0835" b="-3508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31673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B547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FDA's own caution: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38060" y="7612380"/>
            <a:ext cx="9875520" cy="1714500"/>
            <a:chOff x="0" y="0"/>
            <a:chExt cx="13167360" cy="2286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167361" cy="2286000"/>
            </a:xfrm>
            <a:custGeom>
              <a:avLst/>
              <a:gdLst/>
              <a:ahLst/>
              <a:cxnLst/>
              <a:rect l="l" t="t" r="r" b="b"/>
              <a:pathLst>
                <a:path w="13167361" h="2286000">
                  <a:moveTo>
                    <a:pt x="0" y="0"/>
                  </a:moveTo>
                  <a:lnTo>
                    <a:pt x="13167361" y="0"/>
                  </a:lnTo>
                  <a:lnTo>
                    <a:pt x="13167361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233" b="-6223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1316736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5755" lvl="1" indent="-162878" algn="l">
                <a:lnSpc>
                  <a:spcPts val="2376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report does not establish that a drug caused an event</a:t>
              </a:r>
            </a:p>
            <a:p>
              <a:pPr marL="325755" lvl="1" indent="-162878" algn="l">
                <a:lnSpc>
                  <a:spcPts val="2376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Reports can be incomplete or duplicated</a:t>
              </a:r>
            </a:p>
            <a:p>
              <a:pPr marL="325755" lvl="1" indent="-162878" algn="l">
                <a:lnSpc>
                  <a:spcPts val="2376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FAERS data cannot directly calculate incidence, since the exposed population is usually unknown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211603" y="2679945"/>
            <a:ext cx="2626876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1C7293"/>
                </a:solidFill>
                <a:latin typeface="Cambria Bold"/>
                <a:ea typeface="Cambria Bold"/>
                <a:cs typeface="Cambria Bold"/>
                <a:sym typeface="Cambria Bold"/>
              </a:rPr>
              <a:t>32.8M+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37286" y="4920615"/>
            <a:ext cx="217551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1C7293"/>
                </a:solidFill>
                <a:latin typeface="Cambria Bold"/>
                <a:ea typeface="Cambria Bold"/>
                <a:cs typeface="Cambria Bold"/>
                <a:sym typeface="Cambria Bold"/>
              </a:rPr>
              <a:t>2.1M+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647970" y="7190403"/>
            <a:ext cx="1479828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1C7293"/>
                </a:solidFill>
                <a:latin typeface="Cambria Bold"/>
                <a:ea typeface="Cambria Bold"/>
                <a:cs typeface="Cambria Bold"/>
                <a:sym typeface="Cambria Bold"/>
              </a:rPr>
              <a:t>1.7x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52120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463" b="-3234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— Regulatory Dossiers: One Gap, Months of Delay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500" y="1261872"/>
            <a:ext cx="15773400" cy="480060"/>
            <a:chOff x="0" y="0"/>
            <a:chExt cx="210312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Common Technical Document spans five modules — and hides its gaps in scale, not complexity.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2263140"/>
            <a:ext cx="7818120" cy="1165860"/>
            <a:chOff x="0" y="0"/>
            <a:chExt cx="10424160" cy="15544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24160" cy="1554480"/>
            </a:xfrm>
            <a:custGeom>
              <a:avLst/>
              <a:gdLst/>
              <a:ahLst/>
              <a:cxnLst/>
              <a:rect l="l" t="t" r="r" b="b"/>
              <a:pathLst>
                <a:path w="10424160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314432" y="0"/>
                  </a:lnTo>
                  <a:cubicBezTo>
                    <a:pt x="10375011" y="0"/>
                    <a:pt x="10424160" y="49149"/>
                    <a:pt x="10424160" y="109728"/>
                  </a:cubicBezTo>
                  <a:lnTo>
                    <a:pt x="10424160" y="1444752"/>
                  </a:lnTo>
                  <a:cubicBezTo>
                    <a:pt x="10424160" y="1505331"/>
                    <a:pt x="10375011" y="1554480"/>
                    <a:pt x="1031443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0120" y="2263140"/>
            <a:ext cx="1920240" cy="1165860"/>
            <a:chOff x="0" y="0"/>
            <a:chExt cx="2560320" cy="15544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60320" cy="1554480"/>
            </a:xfrm>
            <a:custGeom>
              <a:avLst/>
              <a:gdLst/>
              <a:ahLst/>
              <a:cxnLst/>
              <a:rect l="l" t="t" r="r" b="b"/>
              <a:pathLst>
                <a:path w="2560320" h="1554480">
                  <a:moveTo>
                    <a:pt x="0" y="0"/>
                  </a:moveTo>
                  <a:lnTo>
                    <a:pt x="2560320" y="0"/>
                  </a:lnTo>
                  <a:lnTo>
                    <a:pt x="2560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98" r="-278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56032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Module 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80360" y="2263140"/>
            <a:ext cx="5417820" cy="1165860"/>
            <a:chOff x="0" y="0"/>
            <a:chExt cx="7223760" cy="15544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23760" cy="1554480"/>
            </a:xfrm>
            <a:custGeom>
              <a:avLst/>
              <a:gdLst/>
              <a:ahLst/>
              <a:cxnLst/>
              <a:rect l="l" t="t" r="r" b="b"/>
              <a:pathLst>
                <a:path w="7223760" h="1554480">
                  <a:moveTo>
                    <a:pt x="0" y="0"/>
                  </a:moveTo>
                  <a:lnTo>
                    <a:pt x="7223760" y="0"/>
                  </a:lnTo>
                  <a:lnTo>
                    <a:pt x="72237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548" b="-4054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722376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Region-specific administrative information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3607308"/>
            <a:ext cx="7818120" cy="1165860"/>
            <a:chOff x="0" y="0"/>
            <a:chExt cx="10424160" cy="15544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24160" cy="1554480"/>
            </a:xfrm>
            <a:custGeom>
              <a:avLst/>
              <a:gdLst/>
              <a:ahLst/>
              <a:cxnLst/>
              <a:rect l="l" t="t" r="r" b="b"/>
              <a:pathLst>
                <a:path w="10424160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314432" y="0"/>
                  </a:lnTo>
                  <a:cubicBezTo>
                    <a:pt x="10375011" y="0"/>
                    <a:pt x="10424160" y="49149"/>
                    <a:pt x="10424160" y="109728"/>
                  </a:cubicBezTo>
                  <a:lnTo>
                    <a:pt x="10424160" y="1444752"/>
                  </a:lnTo>
                  <a:cubicBezTo>
                    <a:pt x="10424160" y="1505331"/>
                    <a:pt x="10375011" y="1554480"/>
                    <a:pt x="1031443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065A82">
                <a:alpha val="73725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0120" y="3607308"/>
            <a:ext cx="1920240" cy="1165860"/>
            <a:chOff x="0" y="0"/>
            <a:chExt cx="2560320" cy="15544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60320" cy="1554480"/>
            </a:xfrm>
            <a:custGeom>
              <a:avLst/>
              <a:gdLst/>
              <a:ahLst/>
              <a:cxnLst/>
              <a:rect l="l" t="t" r="r" b="b"/>
              <a:pathLst>
                <a:path w="2560320" h="1554480">
                  <a:moveTo>
                    <a:pt x="0" y="0"/>
                  </a:moveTo>
                  <a:lnTo>
                    <a:pt x="2560320" y="0"/>
                  </a:lnTo>
                  <a:lnTo>
                    <a:pt x="2560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98" r="-278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56032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Module 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80360" y="3607308"/>
            <a:ext cx="5417820" cy="1165860"/>
            <a:chOff x="0" y="0"/>
            <a:chExt cx="7223760" cy="15544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23760" cy="1554480"/>
            </a:xfrm>
            <a:custGeom>
              <a:avLst/>
              <a:gdLst/>
              <a:ahLst/>
              <a:cxnLst/>
              <a:rect l="l" t="t" r="r" b="b"/>
              <a:pathLst>
                <a:path w="7223760" h="1554480">
                  <a:moveTo>
                    <a:pt x="0" y="0"/>
                  </a:moveTo>
                  <a:lnTo>
                    <a:pt x="7223760" y="0"/>
                  </a:lnTo>
                  <a:lnTo>
                    <a:pt x="72237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548" b="-4054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722376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CTD summaries (quality, nonclinical, clinical)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4951476"/>
            <a:ext cx="7818120" cy="1165860"/>
            <a:chOff x="0" y="0"/>
            <a:chExt cx="10424160" cy="15544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424160" cy="1554480"/>
            </a:xfrm>
            <a:custGeom>
              <a:avLst/>
              <a:gdLst/>
              <a:ahLst/>
              <a:cxnLst/>
              <a:rect l="l" t="t" r="r" b="b"/>
              <a:pathLst>
                <a:path w="10424160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314432" y="0"/>
                  </a:lnTo>
                  <a:cubicBezTo>
                    <a:pt x="10375011" y="0"/>
                    <a:pt x="10424160" y="49149"/>
                    <a:pt x="10424160" y="109728"/>
                  </a:cubicBezTo>
                  <a:lnTo>
                    <a:pt x="10424160" y="1444752"/>
                  </a:lnTo>
                  <a:cubicBezTo>
                    <a:pt x="10424160" y="1505331"/>
                    <a:pt x="10375011" y="1554480"/>
                    <a:pt x="1031443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065A82">
                <a:alpha val="6392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60120" y="4951476"/>
            <a:ext cx="1920240" cy="1165860"/>
            <a:chOff x="0" y="0"/>
            <a:chExt cx="2560320" cy="15544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560320" cy="1554480"/>
            </a:xfrm>
            <a:custGeom>
              <a:avLst/>
              <a:gdLst/>
              <a:ahLst/>
              <a:cxnLst/>
              <a:rect l="l" t="t" r="r" b="b"/>
              <a:pathLst>
                <a:path w="2560320" h="1554480">
                  <a:moveTo>
                    <a:pt x="0" y="0"/>
                  </a:moveTo>
                  <a:lnTo>
                    <a:pt x="2560320" y="0"/>
                  </a:lnTo>
                  <a:lnTo>
                    <a:pt x="2560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98" r="-278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256032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Module 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880360" y="4951476"/>
            <a:ext cx="5417820" cy="1165860"/>
            <a:chOff x="0" y="0"/>
            <a:chExt cx="7223760" cy="15544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223760" cy="1554480"/>
            </a:xfrm>
            <a:custGeom>
              <a:avLst/>
              <a:gdLst/>
              <a:ahLst/>
              <a:cxnLst/>
              <a:rect l="l" t="t" r="r" b="b"/>
              <a:pathLst>
                <a:path w="7223760" h="1554480">
                  <a:moveTo>
                    <a:pt x="0" y="0"/>
                  </a:moveTo>
                  <a:lnTo>
                    <a:pt x="7223760" y="0"/>
                  </a:lnTo>
                  <a:lnTo>
                    <a:pt x="72237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548" b="-4054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722376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Quality (CMC)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6295644"/>
            <a:ext cx="7818120" cy="1165860"/>
            <a:chOff x="0" y="0"/>
            <a:chExt cx="10424160" cy="15544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424160" cy="1554480"/>
            </a:xfrm>
            <a:custGeom>
              <a:avLst/>
              <a:gdLst/>
              <a:ahLst/>
              <a:cxnLst/>
              <a:rect l="l" t="t" r="r" b="b"/>
              <a:pathLst>
                <a:path w="10424160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314432" y="0"/>
                  </a:lnTo>
                  <a:cubicBezTo>
                    <a:pt x="10375011" y="0"/>
                    <a:pt x="10424160" y="49149"/>
                    <a:pt x="10424160" y="109728"/>
                  </a:cubicBezTo>
                  <a:lnTo>
                    <a:pt x="10424160" y="1444752"/>
                  </a:lnTo>
                  <a:cubicBezTo>
                    <a:pt x="10424160" y="1505331"/>
                    <a:pt x="10375011" y="1554480"/>
                    <a:pt x="1031443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065A82">
                <a:alpha val="5451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60120" y="6295644"/>
            <a:ext cx="1920240" cy="1165860"/>
            <a:chOff x="0" y="0"/>
            <a:chExt cx="2560320" cy="15544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560320" cy="1554480"/>
            </a:xfrm>
            <a:custGeom>
              <a:avLst/>
              <a:gdLst/>
              <a:ahLst/>
              <a:cxnLst/>
              <a:rect l="l" t="t" r="r" b="b"/>
              <a:pathLst>
                <a:path w="2560320" h="1554480">
                  <a:moveTo>
                    <a:pt x="0" y="0"/>
                  </a:moveTo>
                  <a:lnTo>
                    <a:pt x="2560320" y="0"/>
                  </a:lnTo>
                  <a:lnTo>
                    <a:pt x="2560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98" r="-278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256032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Module 4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880360" y="6295644"/>
            <a:ext cx="5417820" cy="1165860"/>
            <a:chOff x="0" y="0"/>
            <a:chExt cx="7223760" cy="15544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223760" cy="1554480"/>
            </a:xfrm>
            <a:custGeom>
              <a:avLst/>
              <a:gdLst/>
              <a:ahLst/>
              <a:cxnLst/>
              <a:rect l="l" t="t" r="r" b="b"/>
              <a:pathLst>
                <a:path w="7223760" h="1554480">
                  <a:moveTo>
                    <a:pt x="0" y="0"/>
                  </a:moveTo>
                  <a:lnTo>
                    <a:pt x="7223760" y="0"/>
                  </a:lnTo>
                  <a:lnTo>
                    <a:pt x="72237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548" b="-4054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722376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Nonclinical study reports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5800" y="7639812"/>
            <a:ext cx="7818120" cy="1165860"/>
            <a:chOff x="0" y="0"/>
            <a:chExt cx="10424160" cy="15544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424160" cy="1554480"/>
            </a:xfrm>
            <a:custGeom>
              <a:avLst/>
              <a:gdLst/>
              <a:ahLst/>
              <a:cxnLst/>
              <a:rect l="l" t="t" r="r" b="b"/>
              <a:pathLst>
                <a:path w="10424160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314432" y="0"/>
                  </a:lnTo>
                  <a:cubicBezTo>
                    <a:pt x="10375011" y="0"/>
                    <a:pt x="10424160" y="49149"/>
                    <a:pt x="10424160" y="109728"/>
                  </a:cubicBezTo>
                  <a:lnTo>
                    <a:pt x="10424160" y="1444752"/>
                  </a:lnTo>
                  <a:cubicBezTo>
                    <a:pt x="10424160" y="1505331"/>
                    <a:pt x="10375011" y="1554480"/>
                    <a:pt x="1031443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065A82">
                <a:alpha val="4588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0120" y="7639812"/>
            <a:ext cx="1920240" cy="1165860"/>
            <a:chOff x="0" y="0"/>
            <a:chExt cx="2560320" cy="15544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560320" cy="1554480"/>
            </a:xfrm>
            <a:custGeom>
              <a:avLst/>
              <a:gdLst/>
              <a:ahLst/>
              <a:cxnLst/>
              <a:rect l="l" t="t" r="r" b="b"/>
              <a:pathLst>
                <a:path w="2560320" h="1554480">
                  <a:moveTo>
                    <a:pt x="0" y="0"/>
                  </a:moveTo>
                  <a:lnTo>
                    <a:pt x="2560320" y="0"/>
                  </a:lnTo>
                  <a:lnTo>
                    <a:pt x="2560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98" r="-278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56032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Module 5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880360" y="7639812"/>
            <a:ext cx="5417820" cy="1165860"/>
            <a:chOff x="0" y="0"/>
            <a:chExt cx="7223760" cy="15544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223760" cy="1554480"/>
            </a:xfrm>
            <a:custGeom>
              <a:avLst/>
              <a:gdLst/>
              <a:ahLst/>
              <a:cxnLst/>
              <a:rect l="l" t="t" r="r" b="b"/>
              <a:pathLst>
                <a:path w="7223760" h="1554480">
                  <a:moveTo>
                    <a:pt x="0" y="0"/>
                  </a:moveTo>
                  <a:lnTo>
                    <a:pt x="7223760" y="0"/>
                  </a:lnTo>
                  <a:lnTo>
                    <a:pt x="72237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548" b="-4054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722376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Clinical study reports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85800" y="9052560"/>
            <a:ext cx="7818120" cy="685800"/>
            <a:chOff x="0" y="0"/>
            <a:chExt cx="10424160" cy="914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424160" cy="914400"/>
            </a:xfrm>
            <a:custGeom>
              <a:avLst/>
              <a:gdLst/>
              <a:ahLst/>
              <a:cxnLst/>
              <a:rect l="l" t="t" r="r" b="b"/>
              <a:pathLst>
                <a:path w="10424160" h="91440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129" b="-17212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1042416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Modules 2–5 are meant to be common in content and format across ICH regions — the entire point of the CTD.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915400" y="2263140"/>
            <a:ext cx="8641080" cy="7063740"/>
            <a:chOff x="0" y="0"/>
            <a:chExt cx="11521440" cy="94183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521440" cy="9418320"/>
            </a:xfrm>
            <a:custGeom>
              <a:avLst/>
              <a:gdLst/>
              <a:ahLst/>
              <a:cxnLst/>
              <a:rect l="l" t="t" r="r" b="b"/>
              <a:pathLst>
                <a:path w="11521440" h="9418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375136" y="0"/>
                  </a:lnTo>
                  <a:cubicBezTo>
                    <a:pt x="11455908" y="0"/>
                    <a:pt x="11521440" y="65532"/>
                    <a:pt x="11521440" y="146304"/>
                  </a:cubicBezTo>
                  <a:lnTo>
                    <a:pt x="11521440" y="9272016"/>
                  </a:lnTo>
                  <a:cubicBezTo>
                    <a:pt x="11521440" y="9352788"/>
                    <a:pt x="11455908" y="9418320"/>
                    <a:pt x="11375136" y="9418320"/>
                  </a:cubicBezTo>
                  <a:lnTo>
                    <a:pt x="146304" y="9418320"/>
                  </a:lnTo>
                  <a:cubicBezTo>
                    <a:pt x="65532" y="9418320"/>
                    <a:pt x="0" y="9352788"/>
                    <a:pt x="0" y="927201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258300" y="2537460"/>
            <a:ext cx="7955280" cy="548640"/>
            <a:chOff x="0" y="0"/>
            <a:chExt cx="10607040" cy="7315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607040" cy="731520"/>
            </a:xfrm>
            <a:custGeom>
              <a:avLst/>
              <a:gdLst/>
              <a:ahLst/>
              <a:cxnLst/>
              <a:rect l="l" t="t" r="r" b="b"/>
              <a:pathLst>
                <a:path w="10607040" h="73152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533" b="-23253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106070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If a gap isn't caught before submission: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258300" y="3223260"/>
            <a:ext cx="8023860" cy="3429000"/>
            <a:chOff x="0" y="0"/>
            <a:chExt cx="10698480" cy="45720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698480" cy="4572000"/>
            </a:xfrm>
            <a:custGeom>
              <a:avLst/>
              <a:gdLst/>
              <a:ahLst/>
              <a:cxnLst/>
              <a:rect l="l" t="t" r="r" b="b"/>
              <a:pathLst>
                <a:path w="10698480" h="4572000">
                  <a:moveTo>
                    <a:pt x="0" y="0"/>
                  </a:moveTo>
                  <a:lnTo>
                    <a:pt x="10698480" y="0"/>
                  </a:lnTo>
                  <a:lnTo>
                    <a:pt x="1069848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30" r="-48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76200"/>
              <a:ext cx="10698480" cy="464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52901" lvl="1" indent="-176451" algn="l">
                <a:lnSpc>
                  <a:spcPts val="2690"/>
                </a:lnSpc>
                <a:buFont typeface="Arial"/>
                <a:buChar char="•"/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missing or weak section commonly triggers a deficiency letter or information request</a:t>
              </a:r>
            </a:p>
            <a:p>
              <a:pPr marL="352901" lvl="1" indent="-176451" algn="l">
                <a:lnSpc>
                  <a:spcPts val="2690"/>
                </a:lnSpc>
                <a:buFont typeface="Arial"/>
                <a:buChar char="•"/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Review clocks reset — turning a fixable gap into months of delay</a:t>
              </a:r>
            </a:p>
            <a:p>
              <a:pPr marL="352901" lvl="1" indent="-176451" algn="l">
                <a:lnSpc>
                  <a:spcPts val="2690"/>
                </a:lnSpc>
                <a:buFont typeface="Arial"/>
                <a:buChar char="•"/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Because Modules 2–5 are reused across regions, one missed gap multiplies across every region's copy of the dossier</a:t>
              </a:r>
            </a:p>
            <a:p>
              <a:pPr marL="352901" lvl="1" indent="-176451" algn="l">
                <a:lnSpc>
                  <a:spcPts val="2690"/>
                </a:lnSpc>
                <a:buFont typeface="Arial"/>
                <a:buChar char="•"/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Regulatory operations time shifts from new submissions to rework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258300" y="7063740"/>
            <a:ext cx="8023860" cy="2057400"/>
            <a:chOff x="0" y="0"/>
            <a:chExt cx="10698480" cy="27432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698480" cy="2743200"/>
            </a:xfrm>
            <a:custGeom>
              <a:avLst/>
              <a:gdLst/>
              <a:ahLst/>
              <a:cxnLst/>
              <a:rect l="l" t="t" r="r" b="b"/>
              <a:pathLst>
                <a:path w="10698480" h="2743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2596896"/>
                  </a:lnTo>
                  <a:cubicBezTo>
                    <a:pt x="10698480" y="2677668"/>
                    <a:pt x="10632948" y="2743200"/>
                    <a:pt x="1055217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258300" y="7063740"/>
            <a:ext cx="8023860" cy="2057400"/>
            <a:chOff x="0" y="0"/>
            <a:chExt cx="10698480" cy="27432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698480" cy="2743200"/>
            </a:xfrm>
            <a:custGeom>
              <a:avLst/>
              <a:gdLst/>
              <a:ahLst/>
              <a:cxnLst/>
              <a:rect l="l" t="t" r="r" b="b"/>
              <a:pathLst>
                <a:path w="10698480" h="2743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2596896"/>
                  </a:lnTo>
                  <a:cubicBezTo>
                    <a:pt x="10698480" y="2677668"/>
                    <a:pt x="10632948" y="2743200"/>
                    <a:pt x="1055217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532620" y="7269480"/>
            <a:ext cx="7543800" cy="1645920"/>
            <a:chOff x="0" y="0"/>
            <a:chExt cx="10058400" cy="219456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058400" cy="2194560"/>
            </a:xfrm>
            <a:custGeom>
              <a:avLst/>
              <a:gdLst/>
              <a:ahLst/>
              <a:cxnLst/>
              <a:rect l="l" t="t" r="r" b="b"/>
              <a:pathLst>
                <a:path w="10058400" h="2194560">
                  <a:moveTo>
                    <a:pt x="0" y="0"/>
                  </a:moveTo>
                  <a:lnTo>
                    <a:pt x="10058400" y="0"/>
                  </a:lnTo>
                  <a:lnTo>
                    <a:pt x="10058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306" b="-3930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1005840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common failure mode: both workflows need to turn high-volume evidence into a short, defensible review list. That's a triage problem, not a knowledge problem.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C39A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52120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463" b="-3234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Our Solution — Two Workflows, One Evidence-First Platform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500" y="1261872"/>
            <a:ext cx="15773400" cy="480060"/>
            <a:chOff x="0" y="0"/>
            <a:chExt cx="210312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SafetySentinel is a screening and readiness assistant — not a certification system.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63740" y="2331720"/>
            <a:ext cx="4114800" cy="960120"/>
            <a:chOff x="0" y="0"/>
            <a:chExt cx="5486400" cy="12801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486400" cy="1280160"/>
            </a:xfrm>
            <a:custGeom>
              <a:avLst/>
              <a:gdLst/>
              <a:ahLst/>
              <a:cxnLst/>
              <a:rect l="l" t="t" r="r" b="b"/>
              <a:pathLst>
                <a:path w="5486400" h="1280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1133856"/>
                  </a:lnTo>
                  <a:cubicBezTo>
                    <a:pt x="5486400" y="1214628"/>
                    <a:pt x="5420868" y="1280160"/>
                    <a:pt x="5340096" y="1280160"/>
                  </a:cubicBezTo>
                  <a:lnTo>
                    <a:pt x="146304" y="1280160"/>
                  </a:lnTo>
                  <a:cubicBezTo>
                    <a:pt x="65532" y="1280160"/>
                    <a:pt x="0" y="1214628"/>
                    <a:pt x="0" y="1133856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63740" y="2331720"/>
            <a:ext cx="4114800" cy="960120"/>
            <a:chOff x="0" y="0"/>
            <a:chExt cx="5486400" cy="12801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1280160"/>
            </a:xfrm>
            <a:custGeom>
              <a:avLst/>
              <a:gdLst/>
              <a:ahLst/>
              <a:cxnLst/>
              <a:rect l="l" t="t" r="r" b="b"/>
              <a:pathLst>
                <a:path w="5486400" h="1280160">
                  <a:moveTo>
                    <a:pt x="0" y="0"/>
                  </a:moveTo>
                  <a:lnTo>
                    <a:pt x="5486400" y="0"/>
                  </a:lnTo>
                  <a:lnTo>
                    <a:pt x="5486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48640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SafetySentinel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1178540" y="2811780"/>
            <a:ext cx="3275833" cy="1097643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685800" y="4046220"/>
            <a:ext cx="7680960" cy="754380"/>
            <a:chOff x="0" y="0"/>
            <a:chExt cx="1024128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896112"/>
                  </a:lnTo>
                  <a:cubicBezTo>
                    <a:pt x="10241280" y="956691"/>
                    <a:pt x="10192131" y="1005840"/>
                    <a:pt x="1013155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4046220"/>
            <a:ext cx="7680960" cy="754380"/>
            <a:chOff x="0" y="0"/>
            <a:chExt cx="10241280" cy="10058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02412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SIGNAL DETECTION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5074920"/>
            <a:ext cx="7680960" cy="987552"/>
            <a:chOff x="0" y="0"/>
            <a:chExt cx="10241280" cy="131673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241280" cy="1316736"/>
            </a:xfrm>
            <a:custGeom>
              <a:avLst/>
              <a:gdLst/>
              <a:ahLst/>
              <a:cxnLst/>
              <a:rect l="l" t="t" r="r" b="b"/>
              <a:pathLst>
                <a:path w="10241280" h="13167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1207008"/>
                  </a:lnTo>
                  <a:cubicBezTo>
                    <a:pt x="10241280" y="1267587"/>
                    <a:pt x="10192131" y="1316736"/>
                    <a:pt x="10131552" y="1316736"/>
                  </a:cubicBezTo>
                  <a:lnTo>
                    <a:pt x="109728" y="1316736"/>
                  </a:lnTo>
                  <a:cubicBezTo>
                    <a:pt x="49149" y="1316736"/>
                    <a:pt x="0" y="1267587"/>
                    <a:pt x="0" y="1207008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1540" y="5294376"/>
            <a:ext cx="548640" cy="548640"/>
            <a:chOff x="0" y="0"/>
            <a:chExt cx="73152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1540" y="5294376"/>
            <a:ext cx="548640" cy="548640"/>
            <a:chOff x="0" y="0"/>
            <a:chExt cx="73152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45920" y="5074920"/>
            <a:ext cx="6515100" cy="987552"/>
            <a:chOff x="0" y="0"/>
            <a:chExt cx="8686800" cy="131673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86800" cy="1316736"/>
            </a:xfrm>
            <a:custGeom>
              <a:avLst/>
              <a:gdLst/>
              <a:ahLst/>
              <a:cxnLst/>
              <a:rect l="l" t="t" r="r" b="b"/>
              <a:pathLst>
                <a:path w="8686800" h="1316736">
                  <a:moveTo>
                    <a:pt x="0" y="0"/>
                  </a:moveTo>
                  <a:lnTo>
                    <a:pt x="8686800" y="0"/>
                  </a:lnTo>
                  <a:lnTo>
                    <a:pt x="8686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47" b="-785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8686800" cy="1354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 adverse-event records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5800" y="6199632"/>
            <a:ext cx="7680960" cy="987552"/>
            <a:chOff x="0" y="0"/>
            <a:chExt cx="10241280" cy="131673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241280" cy="1316736"/>
            </a:xfrm>
            <a:custGeom>
              <a:avLst/>
              <a:gdLst/>
              <a:ahLst/>
              <a:cxnLst/>
              <a:rect l="l" t="t" r="r" b="b"/>
              <a:pathLst>
                <a:path w="10241280" h="13167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1207008"/>
                  </a:lnTo>
                  <a:cubicBezTo>
                    <a:pt x="10241280" y="1267587"/>
                    <a:pt x="10192131" y="1316736"/>
                    <a:pt x="10131552" y="1316736"/>
                  </a:cubicBezTo>
                  <a:lnTo>
                    <a:pt x="109728" y="1316736"/>
                  </a:lnTo>
                  <a:cubicBezTo>
                    <a:pt x="49149" y="1316736"/>
                    <a:pt x="0" y="1267587"/>
                    <a:pt x="0" y="1207008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91540" y="6419088"/>
            <a:ext cx="548640" cy="548640"/>
            <a:chOff x="0" y="0"/>
            <a:chExt cx="73152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1540" y="6419088"/>
            <a:ext cx="548640" cy="548640"/>
            <a:chOff x="0" y="0"/>
            <a:chExt cx="731520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645920" y="6199632"/>
            <a:ext cx="6515100" cy="987552"/>
            <a:chOff x="0" y="0"/>
            <a:chExt cx="8686800" cy="131673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686800" cy="1316736"/>
            </a:xfrm>
            <a:custGeom>
              <a:avLst/>
              <a:gdLst/>
              <a:ahLst/>
              <a:cxnLst/>
              <a:rect l="l" t="t" r="r" b="b"/>
              <a:pathLst>
                <a:path w="8686800" h="1316736">
                  <a:moveTo>
                    <a:pt x="0" y="0"/>
                  </a:moveTo>
                  <a:lnTo>
                    <a:pt x="8686800" y="0"/>
                  </a:lnTo>
                  <a:lnTo>
                    <a:pt x="8686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47" b="-785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8686800" cy="1354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PRR + chi-square disproportionality screen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5800" y="7324344"/>
            <a:ext cx="7680960" cy="987552"/>
            <a:chOff x="0" y="0"/>
            <a:chExt cx="10241280" cy="131673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241280" cy="1316736"/>
            </a:xfrm>
            <a:custGeom>
              <a:avLst/>
              <a:gdLst/>
              <a:ahLst/>
              <a:cxnLst/>
              <a:rect l="l" t="t" r="r" b="b"/>
              <a:pathLst>
                <a:path w="10241280" h="13167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1207008"/>
                  </a:lnTo>
                  <a:cubicBezTo>
                    <a:pt x="10241280" y="1267587"/>
                    <a:pt x="10192131" y="1316736"/>
                    <a:pt x="10131552" y="1316736"/>
                  </a:cubicBezTo>
                  <a:lnTo>
                    <a:pt x="109728" y="1316736"/>
                  </a:lnTo>
                  <a:cubicBezTo>
                    <a:pt x="49149" y="1316736"/>
                    <a:pt x="0" y="1267587"/>
                    <a:pt x="0" y="1207008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91540" y="7543800"/>
            <a:ext cx="548640" cy="548640"/>
            <a:chOff x="0" y="0"/>
            <a:chExt cx="731520" cy="7315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91540" y="7543800"/>
            <a:ext cx="548640" cy="548640"/>
            <a:chOff x="0" y="0"/>
            <a:chExt cx="731520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645920" y="7324344"/>
            <a:ext cx="6515100" cy="987552"/>
            <a:chOff x="0" y="0"/>
            <a:chExt cx="8686800" cy="131673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686800" cy="1316736"/>
            </a:xfrm>
            <a:custGeom>
              <a:avLst/>
              <a:gdLst/>
              <a:ahLst/>
              <a:cxnLst/>
              <a:rect l="l" t="t" r="r" b="b"/>
              <a:pathLst>
                <a:path w="8686800" h="1316736">
                  <a:moveTo>
                    <a:pt x="0" y="0"/>
                  </a:moveTo>
                  <a:lnTo>
                    <a:pt x="8686800" y="0"/>
                  </a:lnTo>
                  <a:lnTo>
                    <a:pt x="8686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47" b="-785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8686800" cy="1354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 candidate signals with full evidence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877487" y="4048505"/>
            <a:ext cx="7680960" cy="754380"/>
            <a:chOff x="0" y="0"/>
            <a:chExt cx="10241280" cy="10058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896112"/>
                  </a:lnTo>
                  <a:cubicBezTo>
                    <a:pt x="10241280" y="956691"/>
                    <a:pt x="10192131" y="1005840"/>
                    <a:pt x="1013155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875520" y="4046220"/>
            <a:ext cx="7680960" cy="754380"/>
            <a:chOff x="0" y="0"/>
            <a:chExt cx="10241280" cy="10058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102412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SUBMISSION READINESS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875520" y="5074920"/>
            <a:ext cx="7680960" cy="987552"/>
            <a:chOff x="0" y="0"/>
            <a:chExt cx="10241280" cy="131673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241280" cy="1316736"/>
            </a:xfrm>
            <a:custGeom>
              <a:avLst/>
              <a:gdLst/>
              <a:ahLst/>
              <a:cxnLst/>
              <a:rect l="l" t="t" r="r" b="b"/>
              <a:pathLst>
                <a:path w="10241280" h="13167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1207008"/>
                  </a:lnTo>
                  <a:cubicBezTo>
                    <a:pt x="10241280" y="1267587"/>
                    <a:pt x="10192131" y="1316736"/>
                    <a:pt x="10131552" y="1316736"/>
                  </a:cubicBezTo>
                  <a:lnTo>
                    <a:pt x="109728" y="1316736"/>
                  </a:lnTo>
                  <a:cubicBezTo>
                    <a:pt x="49149" y="1316736"/>
                    <a:pt x="0" y="1267587"/>
                    <a:pt x="0" y="1207008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081260" y="5294376"/>
            <a:ext cx="548640" cy="548640"/>
            <a:chOff x="0" y="0"/>
            <a:chExt cx="731520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081260" y="5294376"/>
            <a:ext cx="548640" cy="548640"/>
            <a:chOff x="0" y="0"/>
            <a:chExt cx="731520" cy="7315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835640" y="5074920"/>
            <a:ext cx="6515100" cy="987552"/>
            <a:chOff x="0" y="0"/>
            <a:chExt cx="8686800" cy="131673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686800" cy="1316736"/>
            </a:xfrm>
            <a:custGeom>
              <a:avLst/>
              <a:gdLst/>
              <a:ahLst/>
              <a:cxnLst/>
              <a:rect l="l" t="t" r="r" b="b"/>
              <a:pathLst>
                <a:path w="8686800" h="1316736">
                  <a:moveTo>
                    <a:pt x="0" y="0"/>
                  </a:moveTo>
                  <a:lnTo>
                    <a:pt x="8686800" y="0"/>
                  </a:lnTo>
                  <a:lnTo>
                    <a:pt x="8686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47" b="-785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8686800" cy="1354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 a CTD outline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875520" y="6199632"/>
            <a:ext cx="7680960" cy="987552"/>
            <a:chOff x="0" y="0"/>
            <a:chExt cx="10241280" cy="131673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241280" cy="1316736"/>
            </a:xfrm>
            <a:custGeom>
              <a:avLst/>
              <a:gdLst/>
              <a:ahLst/>
              <a:cxnLst/>
              <a:rect l="l" t="t" r="r" b="b"/>
              <a:pathLst>
                <a:path w="10241280" h="13167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1207008"/>
                  </a:lnTo>
                  <a:cubicBezTo>
                    <a:pt x="10241280" y="1267587"/>
                    <a:pt x="10192131" y="1316736"/>
                    <a:pt x="10131552" y="1316736"/>
                  </a:cubicBezTo>
                  <a:lnTo>
                    <a:pt x="109728" y="1316736"/>
                  </a:lnTo>
                  <a:cubicBezTo>
                    <a:pt x="49149" y="1316736"/>
                    <a:pt x="0" y="1267587"/>
                    <a:pt x="0" y="1207008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081260" y="6419088"/>
            <a:ext cx="548640" cy="548640"/>
            <a:chOff x="0" y="0"/>
            <a:chExt cx="731520" cy="7315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081260" y="6419088"/>
            <a:ext cx="548640" cy="548640"/>
            <a:chOff x="0" y="0"/>
            <a:chExt cx="731520" cy="73152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835640" y="6199632"/>
            <a:ext cx="6515100" cy="987552"/>
            <a:chOff x="0" y="0"/>
            <a:chExt cx="8686800" cy="131673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686800" cy="1316736"/>
            </a:xfrm>
            <a:custGeom>
              <a:avLst/>
              <a:gdLst/>
              <a:ahLst/>
              <a:cxnLst/>
              <a:rect l="l" t="t" r="r" b="b"/>
              <a:pathLst>
                <a:path w="8686800" h="1316736">
                  <a:moveTo>
                    <a:pt x="0" y="0"/>
                  </a:moveTo>
                  <a:lnTo>
                    <a:pt x="8686800" y="0"/>
                  </a:lnTo>
                  <a:lnTo>
                    <a:pt x="8686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47" b="-785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8686800" cy="1354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Modules 1–5 against ICH-M4 checklist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875520" y="7324344"/>
            <a:ext cx="7680960" cy="987552"/>
            <a:chOff x="0" y="0"/>
            <a:chExt cx="10241280" cy="131673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241280" cy="1316736"/>
            </a:xfrm>
            <a:custGeom>
              <a:avLst/>
              <a:gdLst/>
              <a:ahLst/>
              <a:cxnLst/>
              <a:rect l="l" t="t" r="r" b="b"/>
              <a:pathLst>
                <a:path w="10241280" h="13167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1207008"/>
                  </a:lnTo>
                  <a:cubicBezTo>
                    <a:pt x="10241280" y="1267587"/>
                    <a:pt x="10192131" y="1316736"/>
                    <a:pt x="10131552" y="1316736"/>
                  </a:cubicBezTo>
                  <a:lnTo>
                    <a:pt x="109728" y="1316736"/>
                  </a:lnTo>
                  <a:cubicBezTo>
                    <a:pt x="49149" y="1316736"/>
                    <a:pt x="0" y="1267587"/>
                    <a:pt x="0" y="1207008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081260" y="7543800"/>
            <a:ext cx="548640" cy="548640"/>
            <a:chOff x="0" y="0"/>
            <a:chExt cx="731520" cy="73152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0081260" y="7543800"/>
            <a:ext cx="548640" cy="548640"/>
            <a:chOff x="0" y="0"/>
            <a:chExt cx="731520" cy="73152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835640" y="7324344"/>
            <a:ext cx="6515100" cy="987552"/>
            <a:chOff x="0" y="0"/>
            <a:chExt cx="8686800" cy="131673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8686800" cy="1316736"/>
            </a:xfrm>
            <a:custGeom>
              <a:avLst/>
              <a:gdLst/>
              <a:ahLst/>
              <a:cxnLst/>
              <a:rect l="l" t="t" r="r" b="b"/>
              <a:pathLst>
                <a:path w="8686800" h="1316736">
                  <a:moveTo>
                    <a:pt x="0" y="0"/>
                  </a:moveTo>
                  <a:lnTo>
                    <a:pt x="8686800" y="0"/>
                  </a:lnTo>
                  <a:lnTo>
                    <a:pt x="8686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47" b="-785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8686800" cy="1354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Produce a prioritized, exportable gap report</a:t>
              </a:r>
            </a:p>
          </p:txBody>
        </p:sp>
      </p:grpSp>
      <p:sp>
        <p:nvSpPr>
          <p:cNvPr id="89" name="AutoShape 89"/>
          <p:cNvSpPr/>
          <p:nvPr/>
        </p:nvSpPr>
        <p:spPr>
          <a:xfrm flipH="1">
            <a:off x="4526280" y="3053449"/>
            <a:ext cx="2634811" cy="992771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52120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463" b="-3234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 1 — Safety Signal Detector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500" y="1261872"/>
            <a:ext cx="15773400" cy="480060"/>
            <a:chOff x="0" y="0"/>
            <a:chExt cx="210312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We don't just say “risk detected.” We show the evidence behind every flag.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2194560"/>
            <a:ext cx="7955280" cy="480060"/>
            <a:chOff x="0" y="0"/>
            <a:chExt cx="10607040" cy="6400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07040" cy="640080"/>
            </a:xfrm>
            <a:custGeom>
              <a:avLst/>
              <a:gdLst/>
              <a:ahLst/>
              <a:cxnLst/>
              <a:rect l="l" t="t" r="r" b="b"/>
              <a:pathLst>
                <a:path w="10607040" h="640080">
                  <a:moveTo>
                    <a:pt x="0" y="0"/>
                  </a:moveTo>
                  <a:lnTo>
                    <a:pt x="10607040" y="0"/>
                  </a:lnTo>
                  <a:lnTo>
                    <a:pt x="10607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2894" b="-2728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060704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Evidence table (per drug–event pair)</a:t>
              </a:r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685800" y="2811780"/>
          <a:ext cx="7943850" cy="2057400"/>
        </p:xfrm>
        <a:graphic>
          <a:graphicData uri="http://schemas.openxmlformats.org/drawingml/2006/table">
            <a:tbl>
              <a:tblPr/>
              <a:tblGrid>
                <a:gridCol w="264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Target event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Other events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Target drug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Other drugs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" name="Group 17"/>
          <p:cNvGrpSpPr/>
          <p:nvPr/>
        </p:nvGrpSpPr>
        <p:grpSpPr>
          <a:xfrm>
            <a:off x="685800" y="5143500"/>
            <a:ext cx="7955280" cy="1371600"/>
            <a:chOff x="0" y="0"/>
            <a:chExt cx="10607040" cy="1828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07040" cy="1828800"/>
            </a:xfrm>
            <a:custGeom>
              <a:avLst/>
              <a:gdLst/>
              <a:ahLst/>
              <a:cxnLst/>
              <a:rect l="l" t="t" r="r" b="b"/>
              <a:pathLst>
                <a:path w="10607040" h="1828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460736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1682496"/>
                  </a:lnTo>
                  <a:cubicBezTo>
                    <a:pt x="10607040" y="1763268"/>
                    <a:pt x="10541508" y="1828800"/>
                    <a:pt x="1046073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5143500"/>
            <a:ext cx="7955280" cy="1371600"/>
            <a:chOff x="0" y="0"/>
            <a:chExt cx="10607040" cy="1828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07040" cy="1828800"/>
            </a:xfrm>
            <a:custGeom>
              <a:avLst/>
              <a:gdLst/>
              <a:ahLst/>
              <a:cxnLst/>
              <a:rect l="l" t="t" r="r" b="b"/>
              <a:pathLst>
                <a:path w="10607040" h="1828800">
                  <a:moveTo>
                    <a:pt x="0" y="0"/>
                  </a:moveTo>
                  <a:lnTo>
                    <a:pt x="10607040" y="0"/>
                  </a:lnTo>
                  <a:lnTo>
                    <a:pt x="10607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013" b="-630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607040" cy="1847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PRR  =  [ a / (a+b) ]  ÷  [ c / (c+d) ]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6789420"/>
            <a:ext cx="7955280" cy="2537460"/>
            <a:chOff x="0" y="0"/>
            <a:chExt cx="10607040" cy="3383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607040" cy="3383280"/>
            </a:xfrm>
            <a:custGeom>
              <a:avLst/>
              <a:gdLst/>
              <a:ahLst/>
              <a:cxnLst/>
              <a:rect l="l" t="t" r="r" b="b"/>
              <a:pathLst>
                <a:path w="10607040" h="3383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460736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3236976"/>
                  </a:lnTo>
                  <a:cubicBezTo>
                    <a:pt x="10607040" y="3317748"/>
                    <a:pt x="10541508" y="3383280"/>
                    <a:pt x="1046073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0120" y="6967728"/>
            <a:ext cx="7406640" cy="411480"/>
            <a:chOff x="0" y="0"/>
            <a:chExt cx="9875520" cy="5486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875520" cy="548640"/>
            </a:xfrm>
            <a:custGeom>
              <a:avLst/>
              <a:gdLst/>
              <a:ahLst/>
              <a:cxnLst/>
              <a:rect l="l" t="t" r="r" b="b"/>
              <a:pathLst>
                <a:path w="9875520" h="54864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Framing that matters: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0120" y="7406640"/>
            <a:ext cx="7406640" cy="1783080"/>
            <a:chOff x="0" y="0"/>
            <a:chExt cx="9875520" cy="23774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875520" cy="2377440"/>
            </a:xfrm>
            <a:custGeom>
              <a:avLst/>
              <a:gdLst/>
              <a:ahLst/>
              <a:cxnLst/>
              <a:rect l="l" t="t" r="r" b="b"/>
              <a:pathLst>
                <a:path w="9875520" h="2377440">
                  <a:moveTo>
                    <a:pt x="0" y="0"/>
                  </a:moveTo>
                  <a:lnTo>
                    <a:pt x="9875520" y="0"/>
                  </a:lnTo>
                  <a:lnTo>
                    <a:pt x="98755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937" b="-3093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9875520" cy="2444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PRR and chi-square are disproportionality-screening statistics, not proof of causation. They mirror FDA's own caution that a report does not establish that a drug caused an event.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52560" y="2194560"/>
            <a:ext cx="8503920" cy="480060"/>
            <a:chOff x="0" y="0"/>
            <a:chExt cx="11338560" cy="6400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338560" cy="640080"/>
            </a:xfrm>
            <a:custGeom>
              <a:avLst/>
              <a:gdLst/>
              <a:ahLst/>
              <a:cxnLst/>
              <a:rect l="l" t="t" r="r" b="b"/>
              <a:pathLst>
                <a:path w="11338560" h="640080">
                  <a:moveTo>
                    <a:pt x="0" y="0"/>
                  </a:moveTo>
                  <a:lnTo>
                    <a:pt x="11338560" y="0"/>
                  </a:lnTo>
                  <a:lnTo>
                    <a:pt x="11338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163" b="-2951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133856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it works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52560" y="2880360"/>
            <a:ext cx="576072" cy="576072"/>
            <a:chOff x="0" y="0"/>
            <a:chExt cx="768096" cy="7680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052560" y="2880360"/>
            <a:ext cx="576072" cy="576072"/>
            <a:chOff x="0" y="0"/>
            <a:chExt cx="768096" cy="7680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875520" y="2811780"/>
            <a:ext cx="7680960" cy="754380"/>
            <a:chOff x="0" y="0"/>
            <a:chExt cx="10241280" cy="10058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102412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Normalize drug names and reaction terms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052560" y="3771900"/>
            <a:ext cx="576072" cy="576072"/>
            <a:chOff x="0" y="0"/>
            <a:chExt cx="768096" cy="7680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052560" y="3771900"/>
            <a:ext cx="576072" cy="576072"/>
            <a:chOff x="0" y="0"/>
            <a:chExt cx="768096" cy="76809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875520" y="3703320"/>
            <a:ext cx="7680960" cy="754380"/>
            <a:chOff x="0" y="0"/>
            <a:chExt cx="10241280" cy="10058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102412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Aggregate reports into drug–event pairs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052560" y="4663440"/>
            <a:ext cx="576072" cy="576072"/>
            <a:chOff x="0" y="0"/>
            <a:chExt cx="768096" cy="76809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052560" y="4663440"/>
            <a:ext cx="576072" cy="576072"/>
            <a:chOff x="0" y="0"/>
            <a:chExt cx="768096" cy="76809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875520" y="4594860"/>
            <a:ext cx="7680960" cy="754380"/>
            <a:chOff x="0" y="0"/>
            <a:chExt cx="10241280" cy="10058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102412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2×2 contingency table for each pair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052560" y="5554980"/>
            <a:ext cx="576072" cy="576072"/>
            <a:chOff x="0" y="0"/>
            <a:chExt cx="768096" cy="76809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052560" y="5554980"/>
            <a:ext cx="576072" cy="576072"/>
            <a:chOff x="0" y="0"/>
            <a:chExt cx="768096" cy="7680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875520" y="5486400"/>
            <a:ext cx="7680960" cy="754380"/>
            <a:chOff x="0" y="0"/>
            <a:chExt cx="10241280" cy="10058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102412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 PRR (proportional reporting ratio)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052560" y="6446520"/>
            <a:ext cx="576072" cy="576072"/>
            <a:chOff x="0" y="0"/>
            <a:chExt cx="768096" cy="7680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052560" y="6446520"/>
            <a:ext cx="576072" cy="576072"/>
            <a:chOff x="0" y="0"/>
            <a:chExt cx="768096" cy="76809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875520" y="6377940"/>
            <a:ext cx="7680960" cy="754380"/>
            <a:chOff x="0" y="0"/>
            <a:chExt cx="10241280" cy="10058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102412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 chi-square for statistical strength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052560" y="7338060"/>
            <a:ext cx="576072" cy="576072"/>
            <a:chOff x="0" y="0"/>
            <a:chExt cx="768096" cy="76809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052560" y="7338060"/>
            <a:ext cx="576072" cy="576072"/>
            <a:chOff x="0" y="0"/>
            <a:chExt cx="768096" cy="76809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875520" y="7269480"/>
            <a:ext cx="7680960" cy="754380"/>
            <a:chOff x="0" y="0"/>
            <a:chExt cx="10241280" cy="10058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47625"/>
              <a:ext cx="102412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 and flag candidates (e.g. PRR ≥ 2, χ² ≥ 4, ≥ 3 cases)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52120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463" b="-3234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 2 — Submission Readiness Checker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500" y="1261872"/>
            <a:ext cx="15773400" cy="480060"/>
            <a:chOff x="0" y="0"/>
            <a:chExt cx="210312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“submission = incomplete” to an exact, section-level fix list.</a:t>
              </a:r>
            </a:p>
          </p:txBody>
        </p: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444" y="1385316"/>
            <a:ext cx="9710928" cy="6281928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685800" y="7063740"/>
            <a:ext cx="8092440" cy="2263140"/>
            <a:chOff x="0" y="0"/>
            <a:chExt cx="10789920" cy="3017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89920" cy="3017520"/>
            </a:xfrm>
            <a:custGeom>
              <a:avLst/>
              <a:gdLst/>
              <a:ahLst/>
              <a:cxnLst/>
              <a:rect l="l" t="t" r="r" b="b"/>
              <a:pathLst>
                <a:path w="10789920" h="3017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2871216"/>
                  </a:lnTo>
                  <a:cubicBezTo>
                    <a:pt x="10789920" y="2951988"/>
                    <a:pt x="10724388" y="3017520"/>
                    <a:pt x="10643616" y="3017520"/>
                  </a:cubicBezTo>
                  <a:lnTo>
                    <a:pt x="146304" y="3017520"/>
                  </a:lnTo>
                  <a:cubicBezTo>
                    <a:pt x="65532" y="3017520"/>
                    <a:pt x="0" y="2951988"/>
                    <a:pt x="0" y="287121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60120" y="7242048"/>
            <a:ext cx="7543800" cy="411480"/>
            <a:chOff x="0" y="0"/>
            <a:chExt cx="10058400" cy="548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58400" cy="548640"/>
            </a:xfrm>
            <a:custGeom>
              <a:avLst/>
              <a:gdLst/>
              <a:ahLst/>
              <a:cxnLst/>
              <a:rect l="l" t="t" r="r" b="b"/>
              <a:pathLst>
                <a:path w="10058400" h="54864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25" b="-30722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058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 gap output: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0120" y="7680960"/>
            <a:ext cx="7543800" cy="1508760"/>
            <a:chOff x="0" y="0"/>
            <a:chExt cx="10058400" cy="20116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58400" cy="2011680"/>
            </a:xfrm>
            <a:custGeom>
              <a:avLst/>
              <a:gdLst/>
              <a:ahLst/>
              <a:cxnLst/>
              <a:rect l="l" t="t" r="r" b="b"/>
              <a:pathLst>
                <a:path w="10058400" h="2011680">
                  <a:moveTo>
                    <a:pt x="0" y="0"/>
                  </a:moveTo>
                  <a:lnTo>
                    <a:pt x="10058400" y="0"/>
                  </a:lnTo>
                  <a:lnTo>
                    <a:pt x="10058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058400" cy="2049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B547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3 → missing 3.2.P.5.6 Container Closure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B547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5 → weak / incomplete cross-references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52560" y="2194560"/>
            <a:ext cx="8503920" cy="480060"/>
            <a:chOff x="0" y="0"/>
            <a:chExt cx="11338560" cy="6400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38560" cy="640080"/>
            </a:xfrm>
            <a:custGeom>
              <a:avLst/>
              <a:gdLst/>
              <a:ahLst/>
              <a:cxnLst/>
              <a:rect l="l" t="t" r="r" b="b"/>
              <a:pathLst>
                <a:path w="11338560" h="640080">
                  <a:moveTo>
                    <a:pt x="0" y="0"/>
                  </a:moveTo>
                  <a:lnTo>
                    <a:pt x="11338560" y="0"/>
                  </a:lnTo>
                  <a:lnTo>
                    <a:pt x="11338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163" b="-2951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133856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it works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052560" y="2880360"/>
            <a:ext cx="576072" cy="576072"/>
            <a:chOff x="0" y="0"/>
            <a:chExt cx="768096" cy="7680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052560" y="2880360"/>
            <a:ext cx="576072" cy="576072"/>
            <a:chOff x="0" y="0"/>
            <a:chExt cx="768096" cy="76809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875520" y="2811780"/>
            <a:ext cx="7680960" cy="822960"/>
            <a:chOff x="0" y="0"/>
            <a:chExt cx="10241280" cy="10972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 a CTD outline / section manifest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52560" y="3867912"/>
            <a:ext cx="576072" cy="576072"/>
            <a:chOff x="0" y="0"/>
            <a:chExt cx="768096" cy="7680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052560" y="3867912"/>
            <a:ext cx="576072" cy="576072"/>
            <a:chOff x="0" y="0"/>
            <a:chExt cx="768096" cy="7680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875520" y="3799332"/>
            <a:ext cx="7680960" cy="822960"/>
            <a:chOff x="0" y="0"/>
            <a:chExt cx="10241280" cy="10972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Match submitted sections against an ICH-M4-inspired checklist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052560" y="4855464"/>
            <a:ext cx="576072" cy="576072"/>
            <a:chOff x="0" y="0"/>
            <a:chExt cx="768096" cy="7680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052560" y="4855464"/>
            <a:ext cx="576072" cy="576072"/>
            <a:chOff x="0" y="0"/>
            <a:chExt cx="768096" cy="76809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875520" y="4786884"/>
            <a:ext cx="7680960" cy="822960"/>
            <a:chOff x="0" y="0"/>
            <a:chExt cx="10241280" cy="10972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completeness per module (present / missing / weak)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052560" y="5843016"/>
            <a:ext cx="576072" cy="576072"/>
            <a:chOff x="0" y="0"/>
            <a:chExt cx="768096" cy="76809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052560" y="5843016"/>
            <a:ext cx="576072" cy="576072"/>
            <a:chOff x="0" y="0"/>
            <a:chExt cx="768096" cy="76809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875520" y="5774436"/>
            <a:ext cx="7680960" cy="822960"/>
            <a:chOff x="0" y="0"/>
            <a:chExt cx="10241280" cy="109728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Aggregate into an overall readiness score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052560" y="6830568"/>
            <a:ext cx="576072" cy="576072"/>
            <a:chOff x="0" y="0"/>
            <a:chExt cx="768096" cy="76809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052560" y="6830568"/>
            <a:ext cx="576072" cy="576072"/>
            <a:chOff x="0" y="0"/>
            <a:chExt cx="768096" cy="7680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875520" y="6761988"/>
            <a:ext cx="7680960" cy="822960"/>
            <a:chOff x="0" y="0"/>
            <a:chExt cx="10241280" cy="109728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Produce a prioritized, exportable gap report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052560" y="7680960"/>
            <a:ext cx="8503920" cy="1645920"/>
            <a:chOff x="0" y="0"/>
            <a:chExt cx="11338560" cy="219456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338561" cy="2194560"/>
            </a:xfrm>
            <a:custGeom>
              <a:avLst/>
              <a:gdLst/>
              <a:ahLst/>
              <a:cxnLst/>
              <a:rect l="l" t="t" r="r" b="b"/>
              <a:pathLst>
                <a:path w="11338561" h="21945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92256" y="0"/>
                  </a:lnTo>
                  <a:cubicBezTo>
                    <a:pt x="11273028" y="0"/>
                    <a:pt x="11338561" y="65532"/>
                    <a:pt x="11338561" y="146304"/>
                  </a:cubicBezTo>
                  <a:lnTo>
                    <a:pt x="11338561" y="2048256"/>
                  </a:lnTo>
                  <a:cubicBezTo>
                    <a:pt x="11338561" y="2129028"/>
                    <a:pt x="11273028" y="2194560"/>
                    <a:pt x="11192256" y="2194560"/>
                  </a:cubicBezTo>
                  <a:lnTo>
                    <a:pt x="146304" y="2194560"/>
                  </a:lnTo>
                  <a:cubicBezTo>
                    <a:pt x="65532" y="2194560"/>
                    <a:pt x="0" y="2129028"/>
                    <a:pt x="0" y="2048256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326880" y="7818120"/>
            <a:ext cx="7955280" cy="1371600"/>
            <a:chOff x="0" y="0"/>
            <a:chExt cx="10607040" cy="1828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607040" cy="1828800"/>
            </a:xfrm>
            <a:custGeom>
              <a:avLst/>
              <a:gdLst/>
              <a:ahLst/>
              <a:cxnLst/>
              <a:rect l="l" t="t" r="r" b="b"/>
              <a:pathLst>
                <a:path w="10607040" h="1828800">
                  <a:moveTo>
                    <a:pt x="0" y="0"/>
                  </a:moveTo>
                  <a:lnTo>
                    <a:pt x="10607040" y="0"/>
                  </a:lnTo>
                  <a:lnTo>
                    <a:pt x="10607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013" b="-630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10607040" cy="1885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6"/>
                </a:lnSpc>
              </a:pPr>
              <a:r>
                <a:rPr lang="en-US" sz="1800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Framing that matters: this is a structural completeness check against a checklist — not a certification that a dossier is scientifically sound or “regulatory-ready.”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C39A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52120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463" b="-3234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 &amp; Architecture — Evidence-First Pipeline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500" y="1261872"/>
            <a:ext cx="15773400" cy="480060"/>
            <a:chOff x="0" y="0"/>
            <a:chExt cx="210312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Deterministic statistics and checklist logic, with AI used for build speed — not for the math.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63740" y="2125980"/>
            <a:ext cx="4114800" cy="754380"/>
            <a:chOff x="0" y="0"/>
            <a:chExt cx="548640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486400" cy="1005840"/>
            </a:xfrm>
            <a:custGeom>
              <a:avLst/>
              <a:gdLst/>
              <a:ahLst/>
              <a:cxnLst/>
              <a:rect l="l" t="t" r="r" b="b"/>
              <a:pathLst>
                <a:path w="5486400" h="1005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376672" y="0"/>
                  </a:lnTo>
                  <a:cubicBezTo>
                    <a:pt x="5437251" y="0"/>
                    <a:pt x="5486400" y="49149"/>
                    <a:pt x="5486400" y="109728"/>
                  </a:cubicBezTo>
                  <a:lnTo>
                    <a:pt x="5486400" y="896112"/>
                  </a:lnTo>
                  <a:cubicBezTo>
                    <a:pt x="5486400" y="956691"/>
                    <a:pt x="5437251" y="1005840"/>
                    <a:pt x="537667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63740" y="2125980"/>
            <a:ext cx="4114800" cy="754380"/>
            <a:chOff x="0" y="0"/>
            <a:chExt cx="5486400" cy="10058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1005840"/>
            </a:xfrm>
            <a:custGeom>
              <a:avLst/>
              <a:gdLst/>
              <a:ahLst/>
              <a:cxnLst/>
              <a:rect l="l" t="t" r="r" b="b"/>
              <a:pathLst>
                <a:path w="5486400" h="100584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82" b="-562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548640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9121140" y="2865672"/>
            <a:ext cx="0" cy="509435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6377940" y="3360420"/>
            <a:ext cx="5486400" cy="754380"/>
            <a:chOff x="0" y="0"/>
            <a:chExt cx="731520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315200" cy="1005840"/>
            </a:xfrm>
            <a:custGeom>
              <a:avLst/>
              <a:gdLst/>
              <a:ahLst/>
              <a:cxnLst/>
              <a:rect l="l" t="t" r="r" b="b"/>
              <a:pathLst>
                <a:path w="7315200" h="1005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205472" y="0"/>
                  </a:lnTo>
                  <a:cubicBezTo>
                    <a:pt x="7266051" y="0"/>
                    <a:pt x="7315200" y="49149"/>
                    <a:pt x="7315200" y="109728"/>
                  </a:cubicBezTo>
                  <a:lnTo>
                    <a:pt x="7315200" y="896112"/>
                  </a:lnTo>
                  <a:cubicBezTo>
                    <a:pt x="7315200" y="956691"/>
                    <a:pt x="7266051" y="1005840"/>
                    <a:pt x="720547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77940" y="3360420"/>
            <a:ext cx="5486400" cy="754380"/>
            <a:chOff x="0" y="0"/>
            <a:chExt cx="7315200" cy="10058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0" cy="1005840"/>
            </a:xfrm>
            <a:custGeom>
              <a:avLst/>
              <a:gdLst/>
              <a:ahLst/>
              <a:cxnLst/>
              <a:rect l="l" t="t" r="r" b="b"/>
              <a:pathLst>
                <a:path w="7315200" h="1005840">
                  <a:moveTo>
                    <a:pt x="0" y="0"/>
                  </a:moveTo>
                  <a:lnTo>
                    <a:pt x="7315200" y="0"/>
                  </a:lnTo>
                  <a:lnTo>
                    <a:pt x="7315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709" b="-9170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31520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 Dashboard (Signal / Readiness tabs)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rot="611100">
            <a:off x="10449677" y="4413885"/>
            <a:ext cx="3652285" cy="0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5" name="Group 25"/>
          <p:cNvGrpSpPr/>
          <p:nvPr/>
        </p:nvGrpSpPr>
        <p:grpSpPr>
          <a:xfrm>
            <a:off x="685800" y="4732020"/>
            <a:ext cx="7543800" cy="754380"/>
            <a:chOff x="0" y="0"/>
            <a:chExt cx="10058400" cy="1005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058400" cy="1005840"/>
            </a:xfrm>
            <a:custGeom>
              <a:avLst/>
              <a:gdLst/>
              <a:ahLst/>
              <a:cxnLst/>
              <a:rect l="l" t="t" r="r" b="b"/>
              <a:pathLst>
                <a:path w="10058400" h="1005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948672" y="0"/>
                  </a:lnTo>
                  <a:cubicBezTo>
                    <a:pt x="10009251" y="0"/>
                    <a:pt x="10058400" y="49149"/>
                    <a:pt x="10058400" y="109728"/>
                  </a:cubicBezTo>
                  <a:lnTo>
                    <a:pt x="10058400" y="896112"/>
                  </a:lnTo>
                  <a:cubicBezTo>
                    <a:pt x="10058400" y="956691"/>
                    <a:pt x="10009251" y="1005840"/>
                    <a:pt x="994867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4732020"/>
            <a:ext cx="7543800" cy="754380"/>
            <a:chOff x="0" y="0"/>
            <a:chExt cx="10058400" cy="10058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58400" cy="1005840"/>
            </a:xfrm>
            <a:custGeom>
              <a:avLst/>
              <a:gdLst/>
              <a:ahLst/>
              <a:cxnLst/>
              <a:rect l="l" t="t" r="r" b="b"/>
              <a:pathLst>
                <a:path w="10058400" h="100584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005840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Signal Engine  —  normalize · aggregate · PRR · χ²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12680" y="4732020"/>
            <a:ext cx="7543800" cy="754380"/>
            <a:chOff x="0" y="0"/>
            <a:chExt cx="10058400" cy="10058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058400" cy="1005840"/>
            </a:xfrm>
            <a:custGeom>
              <a:avLst/>
              <a:gdLst/>
              <a:ahLst/>
              <a:cxnLst/>
              <a:rect l="l" t="t" r="r" b="b"/>
              <a:pathLst>
                <a:path w="10058400" h="1005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948672" y="0"/>
                  </a:lnTo>
                  <a:cubicBezTo>
                    <a:pt x="10009251" y="0"/>
                    <a:pt x="10058400" y="49149"/>
                    <a:pt x="10058400" y="109728"/>
                  </a:cubicBezTo>
                  <a:lnTo>
                    <a:pt x="10058400" y="896112"/>
                  </a:lnTo>
                  <a:cubicBezTo>
                    <a:pt x="10058400" y="956691"/>
                    <a:pt x="10009251" y="1005840"/>
                    <a:pt x="994867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12680" y="4732020"/>
            <a:ext cx="7543800" cy="754380"/>
            <a:chOff x="0" y="0"/>
            <a:chExt cx="10058400" cy="10058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058400" cy="1005840"/>
            </a:xfrm>
            <a:custGeom>
              <a:avLst/>
              <a:gdLst/>
              <a:ahLst/>
              <a:cxnLst/>
              <a:rect l="l" t="t" r="r" b="b"/>
              <a:pathLst>
                <a:path w="10058400" h="100584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05840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CTD Engine  —  match · score modules · detect gaps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>
            <a:off x="4457695" y="5471565"/>
            <a:ext cx="0" cy="372570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6" name="AutoShape 36"/>
          <p:cNvSpPr/>
          <p:nvPr/>
        </p:nvSpPr>
        <p:spPr>
          <a:xfrm>
            <a:off x="13784575" y="5471565"/>
            <a:ext cx="0" cy="372570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7" name="Group 37"/>
          <p:cNvGrpSpPr/>
          <p:nvPr/>
        </p:nvGrpSpPr>
        <p:grpSpPr>
          <a:xfrm>
            <a:off x="685800" y="5829300"/>
            <a:ext cx="7543800" cy="754380"/>
            <a:chOff x="0" y="0"/>
            <a:chExt cx="10058400" cy="10058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058400" cy="1005840"/>
            </a:xfrm>
            <a:custGeom>
              <a:avLst/>
              <a:gdLst/>
              <a:ahLst/>
              <a:cxnLst/>
              <a:rect l="l" t="t" r="r" b="b"/>
              <a:pathLst>
                <a:path w="10058400" h="1005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948672" y="0"/>
                  </a:lnTo>
                  <a:cubicBezTo>
                    <a:pt x="10009251" y="0"/>
                    <a:pt x="10058400" y="49149"/>
                    <a:pt x="10058400" y="109728"/>
                  </a:cubicBezTo>
                  <a:lnTo>
                    <a:pt x="10058400" y="896112"/>
                  </a:lnTo>
                  <a:cubicBezTo>
                    <a:pt x="10058400" y="956691"/>
                    <a:pt x="10009251" y="1005840"/>
                    <a:pt x="994867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2C39A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5800" y="5829300"/>
            <a:ext cx="7543800" cy="754380"/>
            <a:chOff x="0" y="0"/>
            <a:chExt cx="10058400" cy="10058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058400" cy="1005840"/>
            </a:xfrm>
            <a:custGeom>
              <a:avLst/>
              <a:gdLst/>
              <a:ahLst/>
              <a:cxnLst/>
              <a:rect l="l" t="t" r="r" b="b"/>
              <a:pathLst>
                <a:path w="10058400" h="100584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005840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Ranked Signal Report (evidence-linked)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12680" y="5829300"/>
            <a:ext cx="7543800" cy="754380"/>
            <a:chOff x="0" y="0"/>
            <a:chExt cx="10058400" cy="1005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058400" cy="1005840"/>
            </a:xfrm>
            <a:custGeom>
              <a:avLst/>
              <a:gdLst/>
              <a:ahLst/>
              <a:cxnLst/>
              <a:rect l="l" t="t" r="r" b="b"/>
              <a:pathLst>
                <a:path w="10058400" h="1005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948672" y="0"/>
                  </a:lnTo>
                  <a:cubicBezTo>
                    <a:pt x="10009251" y="0"/>
                    <a:pt x="10058400" y="49149"/>
                    <a:pt x="10058400" y="109728"/>
                  </a:cubicBezTo>
                  <a:lnTo>
                    <a:pt x="10058400" y="896112"/>
                  </a:lnTo>
                  <a:cubicBezTo>
                    <a:pt x="10058400" y="956691"/>
                    <a:pt x="10009251" y="1005840"/>
                    <a:pt x="994867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2C39A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12680" y="5829300"/>
            <a:ext cx="7543800" cy="754380"/>
            <a:chOff x="0" y="0"/>
            <a:chExt cx="10058400" cy="10058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058400" cy="1005840"/>
            </a:xfrm>
            <a:custGeom>
              <a:avLst/>
              <a:gdLst/>
              <a:ahLst/>
              <a:cxnLst/>
              <a:rect l="l" t="t" r="r" b="b"/>
              <a:pathLst>
                <a:path w="10058400" h="100584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005840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Exportable Module Gap Report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5800" y="6789420"/>
            <a:ext cx="5486400" cy="411480"/>
            <a:chOff x="0" y="0"/>
            <a:chExt cx="7315200" cy="5486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73152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 stack</a:t>
              </a:r>
            </a:p>
          </p:txBody>
        </p:sp>
      </p:grpSp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685800" y="7269480"/>
          <a:ext cx="16859250" cy="2533650"/>
        </p:xfrm>
        <a:graphic>
          <a:graphicData uri="http://schemas.openxmlformats.org/drawingml/2006/table">
            <a:tbl>
              <a:tblPr/>
              <a:tblGrid>
                <a:gridCol w="4404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4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Layer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Technology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Frontend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Streamlit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processing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Python, pandas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Statistics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scipy — deterministic PRR / χ²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Regulatory structure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ICH M4-inspired checklist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AI layer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IBM Bob (dev) · watsonx.ai (future explain layer)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Dev tooling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GitHub, GitHub Actions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" name="AutoShape 51"/>
          <p:cNvSpPr/>
          <p:nvPr/>
        </p:nvSpPr>
        <p:spPr>
          <a:xfrm flipH="1">
            <a:off x="4759522" y="4114800"/>
            <a:ext cx="3234003" cy="491461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52120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463" b="-3234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Live Demo Results (Synthetic Prototype Data)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500" y="1261872"/>
            <a:ext cx="15773400" cy="480060"/>
            <a:chOff x="0" y="0"/>
            <a:chExt cx="210312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the prototype actually produced — not real-world safety conclusions.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2194560"/>
            <a:ext cx="16870680" cy="1851660"/>
            <a:chOff x="0" y="0"/>
            <a:chExt cx="22494240" cy="24688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1" cy="2468880"/>
            </a:xfrm>
            <a:custGeom>
              <a:avLst/>
              <a:gdLst/>
              <a:ahLst/>
              <a:cxnLst/>
              <a:rect l="l" t="t" r="r" b="b"/>
              <a:pathLst>
                <a:path w="22494241" h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347937" y="0"/>
                  </a:lnTo>
                  <a:cubicBezTo>
                    <a:pt x="22428708" y="0"/>
                    <a:pt x="22494241" y="65532"/>
                    <a:pt x="22494241" y="146304"/>
                  </a:cubicBezTo>
                  <a:lnTo>
                    <a:pt x="22494241" y="2322576"/>
                  </a:lnTo>
                  <a:cubicBezTo>
                    <a:pt x="22494241" y="2403348"/>
                    <a:pt x="22428708" y="2468880"/>
                    <a:pt x="22347937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0120" y="2400300"/>
            <a:ext cx="3977640" cy="1234440"/>
            <a:chOff x="0" y="0"/>
            <a:chExt cx="5303520" cy="16459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03520" cy="1645920"/>
            </a:xfrm>
            <a:custGeom>
              <a:avLst/>
              <a:gdLst/>
              <a:ahLst/>
              <a:cxnLst/>
              <a:rect l="l" t="t" r="r" b="b"/>
              <a:pathLst>
                <a:path w="5303520" h="1645920">
                  <a:moveTo>
                    <a:pt x="0" y="0"/>
                  </a:moveTo>
                  <a:lnTo>
                    <a:pt x="5303520" y="0"/>
                  </a:lnTo>
                  <a:lnTo>
                    <a:pt x="5303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85" b="-127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30352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306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0120" y="3566160"/>
            <a:ext cx="3977640" cy="754380"/>
            <a:chOff x="0" y="0"/>
            <a:chExt cx="5303520" cy="10058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739" b="-527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3035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synthetic reports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074920" y="2400300"/>
            <a:ext cx="3977640" cy="1234440"/>
            <a:chOff x="0" y="0"/>
            <a:chExt cx="5303520" cy="16459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03520" cy="1645920"/>
            </a:xfrm>
            <a:custGeom>
              <a:avLst/>
              <a:gdLst/>
              <a:ahLst/>
              <a:cxnLst/>
              <a:rect l="l" t="t" r="r" b="b"/>
              <a:pathLst>
                <a:path w="5303520" h="1645920">
                  <a:moveTo>
                    <a:pt x="0" y="0"/>
                  </a:moveTo>
                  <a:lnTo>
                    <a:pt x="5303520" y="0"/>
                  </a:lnTo>
                  <a:lnTo>
                    <a:pt x="5303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85" b="-127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30352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C729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25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74920" y="3566160"/>
            <a:ext cx="3977640" cy="754380"/>
            <a:chOff x="0" y="0"/>
            <a:chExt cx="5303520" cy="10058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739" b="-527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53035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drug–event pairs screened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89720" y="2400300"/>
            <a:ext cx="3977640" cy="1234440"/>
            <a:chOff x="0" y="0"/>
            <a:chExt cx="5303520" cy="16459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03520" cy="1645920"/>
            </a:xfrm>
            <a:custGeom>
              <a:avLst/>
              <a:gdLst/>
              <a:ahLst/>
              <a:cxnLst/>
              <a:rect l="l" t="t" r="r" b="b"/>
              <a:pathLst>
                <a:path w="5303520" h="1645920">
                  <a:moveTo>
                    <a:pt x="0" y="0"/>
                  </a:moveTo>
                  <a:lnTo>
                    <a:pt x="5303520" y="0"/>
                  </a:lnTo>
                  <a:lnTo>
                    <a:pt x="5303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85" b="-127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530352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89720" y="3566160"/>
            <a:ext cx="3977640" cy="754380"/>
            <a:chOff x="0" y="0"/>
            <a:chExt cx="5303520" cy="10058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739" b="-527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3035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candidate signals flagged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04520" y="2400300"/>
            <a:ext cx="3977640" cy="1234440"/>
            <a:chOff x="0" y="0"/>
            <a:chExt cx="5303520" cy="16459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03520" cy="1645920"/>
            </a:xfrm>
            <a:custGeom>
              <a:avLst/>
              <a:gdLst/>
              <a:ahLst/>
              <a:cxnLst/>
              <a:rect l="l" t="t" r="r" b="b"/>
              <a:pathLst>
                <a:path w="5303520" h="1645920">
                  <a:moveTo>
                    <a:pt x="0" y="0"/>
                  </a:moveTo>
                  <a:lnTo>
                    <a:pt x="5303520" y="0"/>
                  </a:lnTo>
                  <a:lnTo>
                    <a:pt x="5303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85" b="-127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530352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B547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304520" y="3566160"/>
            <a:ext cx="3977640" cy="754380"/>
            <a:chOff x="0" y="0"/>
            <a:chExt cx="5303520" cy="10058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739" b="-527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53035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flag rate — a sharply narrowed queue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5800" y="4389120"/>
            <a:ext cx="8229600" cy="480060"/>
            <a:chOff x="0" y="0"/>
            <a:chExt cx="10972800" cy="6400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Signal Detection — flagged pairs</a:t>
              </a:r>
            </a:p>
          </p:txBody>
        </p:sp>
      </p:grpSp>
      <p:graphicFrame>
        <p:nvGraphicFramePr>
          <p:cNvPr id="42" name="Table 42"/>
          <p:cNvGraphicFramePr>
            <a:graphicFrameLocks noGrp="1"/>
          </p:cNvGraphicFramePr>
          <p:nvPr/>
        </p:nvGraphicFramePr>
        <p:xfrm>
          <a:off x="685800" y="4937760"/>
          <a:ext cx="8229600" cy="17716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Drug – Event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PRR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χ²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DrugB + Arrhythmia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7.52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47.58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DrugA + Hepatotoxicity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6.08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55.21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3" name="Group 43"/>
          <p:cNvGrpSpPr/>
          <p:nvPr/>
        </p:nvGrpSpPr>
        <p:grpSpPr>
          <a:xfrm>
            <a:off x="9395460" y="4389120"/>
            <a:ext cx="8229600" cy="480060"/>
            <a:chOff x="0" y="0"/>
            <a:chExt cx="10972800" cy="6400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Submission Readiness — example gaps found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395460" y="4937760"/>
            <a:ext cx="8161020" cy="2606040"/>
            <a:chOff x="0" y="0"/>
            <a:chExt cx="10881360" cy="34747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881361" cy="3474720"/>
            </a:xfrm>
            <a:custGeom>
              <a:avLst/>
              <a:gdLst/>
              <a:ahLst/>
              <a:cxnLst/>
              <a:rect l="l" t="t" r="r" b="b"/>
              <a:pathLst>
                <a:path w="10881361" h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3328416"/>
                  </a:lnTo>
                  <a:cubicBezTo>
                    <a:pt x="10881361" y="3409188"/>
                    <a:pt x="10815828" y="3474720"/>
                    <a:pt x="1073505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738360" y="5212080"/>
            <a:ext cx="7406640" cy="2194560"/>
            <a:chOff x="0" y="0"/>
            <a:chExt cx="9875520" cy="29260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875520" cy="2926080"/>
            </a:xfrm>
            <a:custGeom>
              <a:avLst/>
              <a:gdLst/>
              <a:ahLst/>
              <a:cxnLst/>
              <a:rect l="l" t="t" r="r" b="b"/>
              <a:pathLst>
                <a:path w="9875520" h="2926080">
                  <a:moveTo>
                    <a:pt x="0" y="0"/>
                  </a:moveTo>
                  <a:lnTo>
                    <a:pt x="9875520" y="0"/>
                  </a:lnTo>
                  <a:lnTo>
                    <a:pt x="98755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9875520" cy="2964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8" lvl="1" indent="-169664" algn="l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3 → missing 3.2.P.5.6 Container Closure</a:t>
              </a:r>
            </a:p>
            <a:p>
              <a:pPr marL="339328" lvl="1" indent="-169664" algn="l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4 → incomplete batch analysis data</a:t>
              </a:r>
            </a:p>
            <a:p>
              <a:pPr marL="339328" lvl="1" indent="-169664" algn="l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5 → weak / incomplete cross-references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5800" y="7338060"/>
            <a:ext cx="16870680" cy="1920240"/>
            <a:chOff x="0" y="0"/>
            <a:chExt cx="22494240" cy="25603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494241" cy="2560320"/>
            </a:xfrm>
            <a:custGeom>
              <a:avLst/>
              <a:gdLst/>
              <a:ahLst/>
              <a:cxnLst/>
              <a:rect l="l" t="t" r="r" b="b"/>
              <a:pathLst>
                <a:path w="22494241" h="2560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347937" y="0"/>
                  </a:lnTo>
                  <a:cubicBezTo>
                    <a:pt x="22428708" y="0"/>
                    <a:pt x="22494241" y="65532"/>
                    <a:pt x="22494241" y="146304"/>
                  </a:cubicBezTo>
                  <a:lnTo>
                    <a:pt x="22494241" y="2414016"/>
                  </a:lnTo>
                  <a:cubicBezTo>
                    <a:pt x="22494241" y="2494788"/>
                    <a:pt x="22428708" y="2560320"/>
                    <a:pt x="22347937" y="2560320"/>
                  </a:cubicBezTo>
                  <a:lnTo>
                    <a:pt x="146304" y="2560320"/>
                  </a:lnTo>
                  <a:cubicBezTo>
                    <a:pt x="65532" y="2560320"/>
                    <a:pt x="0" y="2494788"/>
                    <a:pt x="0" y="2414016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97280" y="7475220"/>
            <a:ext cx="16047720" cy="1645920"/>
            <a:chOff x="0" y="0"/>
            <a:chExt cx="21396960" cy="21945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396961" cy="2194560"/>
            </a:xfrm>
            <a:custGeom>
              <a:avLst/>
              <a:gdLst/>
              <a:ahLst/>
              <a:cxnLst/>
              <a:rect l="l" t="t" r="r" b="b"/>
              <a:pathLst>
                <a:path w="21396961" h="2194560">
                  <a:moveTo>
                    <a:pt x="0" y="0"/>
                  </a:moveTo>
                  <a:lnTo>
                    <a:pt x="21396961" y="0"/>
                  </a:lnTo>
                  <a:lnTo>
                    <a:pt x="21396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979" b="-13997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2139696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These are synthetic, prototype-stage screening results — shown to demonstrate mechanism and output format, not real pharmacovigilance conclusions or a real submission's actual readiness.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52120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463" b="-3234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Where IBM Bob Fits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500" y="1261872"/>
            <a:ext cx="15773400" cy="480060"/>
            <a:chOff x="0" y="0"/>
            <a:chExt cx="210312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Bob was part of the development lifecycle — not just a logo on the slide.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2194560"/>
            <a:ext cx="5349240" cy="2606040"/>
            <a:chOff x="0" y="0"/>
            <a:chExt cx="7132320" cy="34747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32320" cy="3474720"/>
            </a:xfrm>
            <a:custGeom>
              <a:avLst/>
              <a:gdLst/>
              <a:ahLst/>
              <a:cxnLst/>
              <a:rect l="l" t="t" r="r" b="b"/>
              <a:pathLst>
                <a:path w="7132320" h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3328416"/>
                  </a:lnTo>
                  <a:cubicBezTo>
                    <a:pt x="7132320" y="3409188"/>
                    <a:pt x="7066788" y="3474720"/>
                    <a:pt x="698601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0120" y="2359152"/>
            <a:ext cx="4800600" cy="548640"/>
            <a:chOff x="0" y="0"/>
            <a:chExt cx="640080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64008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Ask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0120" y="2907792"/>
            <a:ext cx="4800600" cy="1783080"/>
            <a:chOff x="0" y="0"/>
            <a:chExt cx="6400800" cy="23774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00800" cy="2377440"/>
            </a:xfrm>
            <a:custGeom>
              <a:avLst/>
              <a:gdLst/>
              <a:ahLst/>
              <a:cxnLst/>
              <a:rect l="l" t="t" r="r" b="b"/>
              <a:pathLst>
                <a:path w="6400800" h="2377440">
                  <a:moveTo>
                    <a:pt x="0" y="0"/>
                  </a:moveTo>
                  <a:lnTo>
                    <a:pt x="6400800" y="0"/>
                  </a:lnTo>
                  <a:lnTo>
                    <a:pt x="64008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9" b="-24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6400800" cy="2444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 concepts or analyze existing code without making changes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77940" y="2194560"/>
            <a:ext cx="5349240" cy="2606040"/>
            <a:chOff x="0" y="0"/>
            <a:chExt cx="7132320" cy="34747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32320" cy="3474720"/>
            </a:xfrm>
            <a:custGeom>
              <a:avLst/>
              <a:gdLst/>
              <a:ahLst/>
              <a:cxnLst/>
              <a:rect l="l" t="t" r="r" b="b"/>
              <a:pathLst>
                <a:path w="7132320" h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3328416"/>
                  </a:lnTo>
                  <a:cubicBezTo>
                    <a:pt x="7132320" y="3409188"/>
                    <a:pt x="7066788" y="3474720"/>
                    <a:pt x="698601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52260" y="2359152"/>
            <a:ext cx="4800600" cy="548640"/>
            <a:chOff x="0" y="0"/>
            <a:chExt cx="640080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64008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652260" y="2907792"/>
            <a:ext cx="4800600" cy="1783080"/>
            <a:chOff x="0" y="0"/>
            <a:chExt cx="6400800" cy="23774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00800" cy="2377440"/>
            </a:xfrm>
            <a:custGeom>
              <a:avLst/>
              <a:gdLst/>
              <a:ahLst/>
              <a:cxnLst/>
              <a:rect l="l" t="t" r="r" b="b"/>
              <a:pathLst>
                <a:path w="6400800" h="2377440">
                  <a:moveTo>
                    <a:pt x="0" y="0"/>
                  </a:moveTo>
                  <a:lnTo>
                    <a:pt x="6400800" y="0"/>
                  </a:lnTo>
                  <a:lnTo>
                    <a:pt x="64008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9" b="-24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6400800" cy="2444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Think through architecture and produce a technical plan before implementation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070080" y="2194560"/>
            <a:ext cx="5349240" cy="2606040"/>
            <a:chOff x="0" y="0"/>
            <a:chExt cx="7132320" cy="34747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32320" cy="3474720"/>
            </a:xfrm>
            <a:custGeom>
              <a:avLst/>
              <a:gdLst/>
              <a:ahLst/>
              <a:cxnLst/>
              <a:rect l="l" t="t" r="r" b="b"/>
              <a:pathLst>
                <a:path w="7132320" h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3328416"/>
                  </a:lnTo>
                  <a:cubicBezTo>
                    <a:pt x="7132320" y="3409188"/>
                    <a:pt x="7066788" y="3474720"/>
                    <a:pt x="698601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344400" y="2359152"/>
            <a:ext cx="4800600" cy="548640"/>
            <a:chOff x="0" y="0"/>
            <a:chExt cx="6400800" cy="7315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64008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344400" y="2907792"/>
            <a:ext cx="4800600" cy="1783080"/>
            <a:chOff x="0" y="0"/>
            <a:chExt cx="6400800" cy="23774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400800" cy="2377440"/>
            </a:xfrm>
            <a:custGeom>
              <a:avLst/>
              <a:gdLst/>
              <a:ahLst/>
              <a:cxnLst/>
              <a:rect l="l" t="t" r="r" b="b"/>
              <a:pathLst>
                <a:path w="6400800" h="2377440">
                  <a:moveTo>
                    <a:pt x="0" y="0"/>
                  </a:moveTo>
                  <a:lnTo>
                    <a:pt x="6400800" y="0"/>
                  </a:lnTo>
                  <a:lnTo>
                    <a:pt x="64008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9" b="-24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6400800" cy="2444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Take an approved plan and implement it end-to-end across the codebase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5143500"/>
            <a:ext cx="8229600" cy="480060"/>
            <a:chOff x="0" y="0"/>
            <a:chExt cx="10972800" cy="6400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Our actual build workflow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5692140"/>
            <a:ext cx="2269017" cy="1165860"/>
            <a:chOff x="0" y="0"/>
            <a:chExt cx="3025356" cy="15544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025394" cy="1554480"/>
            </a:xfrm>
            <a:custGeom>
              <a:avLst/>
              <a:gdLst/>
              <a:ahLst/>
              <a:cxnLst/>
              <a:rect l="l" t="t" r="r" b="b"/>
              <a:pathLst>
                <a:path w="3025394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15666" y="0"/>
                  </a:lnTo>
                  <a:cubicBezTo>
                    <a:pt x="2976245" y="0"/>
                    <a:pt x="3025394" y="49149"/>
                    <a:pt x="3025394" y="109728"/>
                  </a:cubicBezTo>
                  <a:lnTo>
                    <a:pt x="3025394" y="1444752"/>
                  </a:lnTo>
                  <a:cubicBezTo>
                    <a:pt x="3025394" y="1505331"/>
                    <a:pt x="2976245" y="1554480"/>
                    <a:pt x="2915666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5800" y="5692140"/>
            <a:ext cx="2269017" cy="1165860"/>
            <a:chOff x="0" y="0"/>
            <a:chExt cx="3025356" cy="15544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025358" cy="1554480"/>
            </a:xfrm>
            <a:custGeom>
              <a:avLst/>
              <a:gdLst/>
              <a:ahLst/>
              <a:cxnLst/>
              <a:rect l="l" t="t" r="r" b="b"/>
              <a:pathLst>
                <a:path w="3025358" h="1554480">
                  <a:moveTo>
                    <a:pt x="0" y="0"/>
                  </a:moveTo>
                  <a:lnTo>
                    <a:pt x="3025358" y="0"/>
                  </a:lnTo>
                  <a:lnTo>
                    <a:pt x="302535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24" r="-159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025356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statement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119409" y="5692140"/>
            <a:ext cx="2269017" cy="1165860"/>
            <a:chOff x="0" y="0"/>
            <a:chExt cx="3025356" cy="15544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025394" cy="1554480"/>
            </a:xfrm>
            <a:custGeom>
              <a:avLst/>
              <a:gdLst/>
              <a:ahLst/>
              <a:cxnLst/>
              <a:rect l="l" t="t" r="r" b="b"/>
              <a:pathLst>
                <a:path w="3025394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15666" y="0"/>
                  </a:lnTo>
                  <a:cubicBezTo>
                    <a:pt x="2976245" y="0"/>
                    <a:pt x="3025394" y="49149"/>
                    <a:pt x="3025394" y="109728"/>
                  </a:cubicBezTo>
                  <a:lnTo>
                    <a:pt x="3025394" y="1444752"/>
                  </a:lnTo>
                  <a:cubicBezTo>
                    <a:pt x="3025394" y="1505331"/>
                    <a:pt x="2976245" y="1554480"/>
                    <a:pt x="2915666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119409" y="5692140"/>
            <a:ext cx="2269017" cy="1165860"/>
            <a:chOff x="0" y="0"/>
            <a:chExt cx="3025356" cy="15544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025358" cy="1554480"/>
            </a:xfrm>
            <a:custGeom>
              <a:avLst/>
              <a:gdLst/>
              <a:ahLst/>
              <a:cxnLst/>
              <a:rect l="l" t="t" r="r" b="b"/>
              <a:pathLst>
                <a:path w="3025358" h="1554480">
                  <a:moveTo>
                    <a:pt x="0" y="0"/>
                  </a:moveTo>
                  <a:lnTo>
                    <a:pt x="3025358" y="0"/>
                  </a:lnTo>
                  <a:lnTo>
                    <a:pt x="302535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24" r="-159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3025356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Bob —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</a:t>
              </a:r>
            </a:p>
          </p:txBody>
        </p:sp>
      </p:grpSp>
      <p:sp>
        <p:nvSpPr>
          <p:cNvPr id="50" name="AutoShape 50"/>
          <p:cNvSpPr/>
          <p:nvPr/>
        </p:nvSpPr>
        <p:spPr>
          <a:xfrm flipV="1">
            <a:off x="5373091" y="6275070"/>
            <a:ext cx="195272" cy="0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51" name="Group 51"/>
          <p:cNvGrpSpPr/>
          <p:nvPr/>
        </p:nvGrpSpPr>
        <p:grpSpPr>
          <a:xfrm>
            <a:off x="5553018" y="5692140"/>
            <a:ext cx="2269017" cy="1165860"/>
            <a:chOff x="0" y="0"/>
            <a:chExt cx="3025356" cy="15544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025394" cy="1554480"/>
            </a:xfrm>
            <a:custGeom>
              <a:avLst/>
              <a:gdLst/>
              <a:ahLst/>
              <a:cxnLst/>
              <a:rect l="l" t="t" r="r" b="b"/>
              <a:pathLst>
                <a:path w="3025394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15666" y="0"/>
                  </a:lnTo>
                  <a:cubicBezTo>
                    <a:pt x="2976245" y="0"/>
                    <a:pt x="3025394" y="49149"/>
                    <a:pt x="3025394" y="109728"/>
                  </a:cubicBezTo>
                  <a:lnTo>
                    <a:pt x="3025394" y="1444752"/>
                  </a:lnTo>
                  <a:cubicBezTo>
                    <a:pt x="3025394" y="1505331"/>
                    <a:pt x="2976245" y="1554480"/>
                    <a:pt x="2915666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553018" y="5692140"/>
            <a:ext cx="2269017" cy="1165860"/>
            <a:chOff x="0" y="0"/>
            <a:chExt cx="3025356" cy="15544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025358" cy="1554480"/>
            </a:xfrm>
            <a:custGeom>
              <a:avLst/>
              <a:gdLst/>
              <a:ahLst/>
              <a:cxnLst/>
              <a:rect l="l" t="t" r="r" b="b"/>
              <a:pathLst>
                <a:path w="3025358" h="1554480">
                  <a:moveTo>
                    <a:pt x="0" y="0"/>
                  </a:moveTo>
                  <a:lnTo>
                    <a:pt x="3025358" y="0"/>
                  </a:lnTo>
                  <a:lnTo>
                    <a:pt x="302535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24" r="-159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3025356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Bob —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986627" y="5692140"/>
            <a:ext cx="2269017" cy="1165860"/>
            <a:chOff x="0" y="0"/>
            <a:chExt cx="3025356" cy="15544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025394" cy="1554480"/>
            </a:xfrm>
            <a:custGeom>
              <a:avLst/>
              <a:gdLst/>
              <a:ahLst/>
              <a:cxnLst/>
              <a:rect l="l" t="t" r="r" b="b"/>
              <a:pathLst>
                <a:path w="3025394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15666" y="0"/>
                  </a:lnTo>
                  <a:cubicBezTo>
                    <a:pt x="2976245" y="0"/>
                    <a:pt x="3025394" y="49149"/>
                    <a:pt x="3025394" y="109728"/>
                  </a:cubicBezTo>
                  <a:lnTo>
                    <a:pt x="3025394" y="1444752"/>
                  </a:lnTo>
                  <a:cubicBezTo>
                    <a:pt x="3025394" y="1505331"/>
                    <a:pt x="2976245" y="1554480"/>
                    <a:pt x="2915666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986627" y="5692140"/>
            <a:ext cx="2269017" cy="1165860"/>
            <a:chOff x="0" y="0"/>
            <a:chExt cx="3025356" cy="15544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025358" cy="1554480"/>
            </a:xfrm>
            <a:custGeom>
              <a:avLst/>
              <a:gdLst/>
              <a:ahLst/>
              <a:cxnLst/>
              <a:rect l="l" t="t" r="r" b="b"/>
              <a:pathLst>
                <a:path w="3025358" h="1554480">
                  <a:moveTo>
                    <a:pt x="0" y="0"/>
                  </a:moveTo>
                  <a:lnTo>
                    <a:pt x="3025358" y="0"/>
                  </a:lnTo>
                  <a:lnTo>
                    <a:pt x="302535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24" r="-159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3025356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420245" y="5692140"/>
            <a:ext cx="2269017" cy="1165860"/>
            <a:chOff x="0" y="0"/>
            <a:chExt cx="3025356" cy="15544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025394" cy="1554480"/>
            </a:xfrm>
            <a:custGeom>
              <a:avLst/>
              <a:gdLst/>
              <a:ahLst/>
              <a:cxnLst/>
              <a:rect l="l" t="t" r="r" b="b"/>
              <a:pathLst>
                <a:path w="3025394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15666" y="0"/>
                  </a:lnTo>
                  <a:cubicBezTo>
                    <a:pt x="2976245" y="0"/>
                    <a:pt x="3025394" y="49149"/>
                    <a:pt x="3025394" y="109728"/>
                  </a:cubicBezTo>
                  <a:lnTo>
                    <a:pt x="3025394" y="1444752"/>
                  </a:lnTo>
                  <a:cubicBezTo>
                    <a:pt x="3025394" y="1505331"/>
                    <a:pt x="2976245" y="1554480"/>
                    <a:pt x="2915666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420245" y="5692140"/>
            <a:ext cx="2269017" cy="1165860"/>
            <a:chOff x="0" y="0"/>
            <a:chExt cx="3025356" cy="155448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025358" cy="1554480"/>
            </a:xfrm>
            <a:custGeom>
              <a:avLst/>
              <a:gdLst/>
              <a:ahLst/>
              <a:cxnLst/>
              <a:rect l="l" t="t" r="r" b="b"/>
              <a:pathLst>
                <a:path w="3025358" h="1554480">
                  <a:moveTo>
                    <a:pt x="0" y="0"/>
                  </a:moveTo>
                  <a:lnTo>
                    <a:pt x="3025358" y="0"/>
                  </a:lnTo>
                  <a:lnTo>
                    <a:pt x="302535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24" r="-159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3025356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Bug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found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853854" y="5692140"/>
            <a:ext cx="2269017" cy="1165860"/>
            <a:chOff x="0" y="0"/>
            <a:chExt cx="3025356" cy="15544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025394" cy="1554480"/>
            </a:xfrm>
            <a:custGeom>
              <a:avLst/>
              <a:gdLst/>
              <a:ahLst/>
              <a:cxnLst/>
              <a:rect l="l" t="t" r="r" b="b"/>
              <a:pathLst>
                <a:path w="3025394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15666" y="0"/>
                  </a:lnTo>
                  <a:cubicBezTo>
                    <a:pt x="2976245" y="0"/>
                    <a:pt x="3025394" y="49149"/>
                    <a:pt x="3025394" y="109728"/>
                  </a:cubicBezTo>
                  <a:lnTo>
                    <a:pt x="3025394" y="1444752"/>
                  </a:lnTo>
                  <a:cubicBezTo>
                    <a:pt x="3025394" y="1505331"/>
                    <a:pt x="2976245" y="1554480"/>
                    <a:pt x="2915666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853854" y="5692140"/>
            <a:ext cx="2269017" cy="1165860"/>
            <a:chOff x="0" y="0"/>
            <a:chExt cx="3025356" cy="15544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025358" cy="1554480"/>
            </a:xfrm>
            <a:custGeom>
              <a:avLst/>
              <a:gdLst/>
              <a:ahLst/>
              <a:cxnLst/>
              <a:rect l="l" t="t" r="r" b="b"/>
              <a:pathLst>
                <a:path w="3025358" h="1554480">
                  <a:moveTo>
                    <a:pt x="0" y="0"/>
                  </a:moveTo>
                  <a:lnTo>
                    <a:pt x="3025358" y="0"/>
                  </a:lnTo>
                  <a:lnTo>
                    <a:pt x="302535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24" r="-159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3025356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Bob —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debug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5287463" y="5692140"/>
            <a:ext cx="2269017" cy="1165860"/>
            <a:chOff x="0" y="0"/>
            <a:chExt cx="3025356" cy="155448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025394" cy="1554480"/>
            </a:xfrm>
            <a:custGeom>
              <a:avLst/>
              <a:gdLst/>
              <a:ahLst/>
              <a:cxnLst/>
              <a:rect l="l" t="t" r="r" b="b"/>
              <a:pathLst>
                <a:path w="3025394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15666" y="0"/>
                  </a:lnTo>
                  <a:cubicBezTo>
                    <a:pt x="2976245" y="0"/>
                    <a:pt x="3025394" y="49149"/>
                    <a:pt x="3025394" y="109728"/>
                  </a:cubicBezTo>
                  <a:lnTo>
                    <a:pt x="3025394" y="1444752"/>
                  </a:lnTo>
                  <a:cubicBezTo>
                    <a:pt x="3025394" y="1505331"/>
                    <a:pt x="2976245" y="1554480"/>
                    <a:pt x="2915666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5287463" y="5692140"/>
            <a:ext cx="2269017" cy="1165860"/>
            <a:chOff x="0" y="0"/>
            <a:chExt cx="3025356" cy="155448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025358" cy="1554480"/>
            </a:xfrm>
            <a:custGeom>
              <a:avLst/>
              <a:gdLst/>
              <a:ahLst/>
              <a:cxnLst/>
              <a:rect l="l" t="t" r="r" b="b"/>
              <a:pathLst>
                <a:path w="3025358" h="1554480">
                  <a:moveTo>
                    <a:pt x="0" y="0"/>
                  </a:moveTo>
                  <a:lnTo>
                    <a:pt x="3025358" y="0"/>
                  </a:lnTo>
                  <a:lnTo>
                    <a:pt x="302535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24" r="-159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3025356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85800" y="7269480"/>
            <a:ext cx="16870680" cy="2125980"/>
            <a:chOff x="0" y="0"/>
            <a:chExt cx="22494240" cy="28346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494241" cy="2834640"/>
            </a:xfrm>
            <a:custGeom>
              <a:avLst/>
              <a:gdLst/>
              <a:ahLst/>
              <a:cxnLst/>
              <a:rect l="l" t="t" r="r" b="b"/>
              <a:pathLst>
                <a:path w="22494241" h="2834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347937" y="0"/>
                  </a:lnTo>
                  <a:cubicBezTo>
                    <a:pt x="22428708" y="0"/>
                    <a:pt x="22494241" y="65532"/>
                    <a:pt x="22494241" y="146304"/>
                  </a:cubicBezTo>
                  <a:lnTo>
                    <a:pt x="22494241" y="2688336"/>
                  </a:lnTo>
                  <a:cubicBezTo>
                    <a:pt x="22494241" y="2769108"/>
                    <a:pt x="22428708" y="2834640"/>
                    <a:pt x="22347937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28700" y="7434072"/>
            <a:ext cx="16184880" cy="411480"/>
            <a:chOff x="0" y="0"/>
            <a:chExt cx="21579840" cy="5486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1579839" cy="548640"/>
            </a:xfrm>
            <a:custGeom>
              <a:avLst/>
              <a:gdLst/>
              <a:ahLst/>
              <a:cxnLst/>
              <a:rect l="l" t="t" r="r" b="b"/>
              <a:pathLst>
                <a:path w="21579839" h="548640">
                  <a:moveTo>
                    <a:pt x="0" y="0"/>
                  </a:moveTo>
                  <a:lnTo>
                    <a:pt x="21579839" y="0"/>
                  </a:lnTo>
                  <a:lnTo>
                    <a:pt x="215798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6411" b="-71641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2157984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Concrete example from our build: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28700" y="7845552"/>
            <a:ext cx="16184880" cy="1508760"/>
            <a:chOff x="0" y="0"/>
            <a:chExt cx="21579840" cy="201168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1579839" cy="2011680"/>
            </a:xfrm>
            <a:custGeom>
              <a:avLst/>
              <a:gdLst/>
              <a:ahLst/>
              <a:cxnLst/>
              <a:rect l="l" t="t" r="r" b="b"/>
              <a:pathLst>
                <a:path w="21579839" h="2011680">
                  <a:moveTo>
                    <a:pt x="0" y="0"/>
                  </a:moveTo>
                  <a:lnTo>
                    <a:pt x="21579839" y="0"/>
                  </a:lnTo>
                  <a:lnTo>
                    <a:pt x="21579839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021" b="-15902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66675"/>
              <a:ext cx="21579840" cy="2078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CTD tab threw a StreamlitWidgetAlreadyInstantiatedError. Instead of hand-tracing the session-state logic, we gave Bob the real error trace and asked it to inspect widget-key handling — Bob fixed it, and the workflow ran correctly. Plan → implement → hit a real error → debug with Bob → verify → commit.</a:t>
              </a:r>
            </a:p>
          </p:txBody>
        </p:sp>
      </p:grpSp>
      <p:sp>
        <p:nvSpPr>
          <p:cNvPr id="84" name="AutoShape 84"/>
          <p:cNvSpPr/>
          <p:nvPr/>
        </p:nvSpPr>
        <p:spPr>
          <a:xfrm flipV="1">
            <a:off x="7806319" y="6270307"/>
            <a:ext cx="195272" cy="0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85" name="AutoShape 85"/>
          <p:cNvSpPr/>
          <p:nvPr/>
        </p:nvSpPr>
        <p:spPr>
          <a:xfrm flipV="1">
            <a:off x="10255644" y="6270307"/>
            <a:ext cx="195272" cy="0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86" name="AutoShape 86"/>
          <p:cNvSpPr/>
          <p:nvPr/>
        </p:nvSpPr>
        <p:spPr>
          <a:xfrm flipV="1">
            <a:off x="12673917" y="6313172"/>
            <a:ext cx="195272" cy="0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87" name="AutoShape 87"/>
          <p:cNvSpPr/>
          <p:nvPr/>
        </p:nvSpPr>
        <p:spPr>
          <a:xfrm flipV="1">
            <a:off x="15122871" y="6313172"/>
            <a:ext cx="195272" cy="0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88" name="AutoShape 88"/>
          <p:cNvSpPr/>
          <p:nvPr/>
        </p:nvSpPr>
        <p:spPr>
          <a:xfrm flipV="1">
            <a:off x="2938396" y="6313172"/>
            <a:ext cx="195272" cy="0"/>
          </a:xfrm>
          <a:prstGeom prst="line">
            <a:avLst/>
          </a:prstGeom>
          <a:ln w="19050" cap="rnd">
            <a:solidFill>
              <a:srgbClr val="5B6B79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52120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463" b="-3234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Implemented Today vs. Future IBM Integration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500" y="1261872"/>
            <a:ext cx="15773400" cy="480060"/>
            <a:chOff x="0" y="0"/>
            <a:chExt cx="210312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This distinction is what keeps the pitch credible instead of overclaiming.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2263140"/>
            <a:ext cx="8161020" cy="6172200"/>
            <a:chOff x="0" y="0"/>
            <a:chExt cx="10881360" cy="822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81361" cy="8229600"/>
            </a:xfrm>
            <a:custGeom>
              <a:avLst/>
              <a:gdLst/>
              <a:ahLst/>
              <a:cxnLst/>
              <a:rect l="l" t="t" r="r" b="b"/>
              <a:pathLst>
                <a:path w="10881361" h="8229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8083296"/>
                  </a:lnTo>
                  <a:cubicBezTo>
                    <a:pt x="10881361" y="8164068"/>
                    <a:pt x="10815828" y="8229600"/>
                    <a:pt x="10735056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2263140"/>
            <a:ext cx="8161020" cy="754380"/>
            <a:chOff x="0" y="0"/>
            <a:chExt cx="10881360" cy="10058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81360" cy="1005840"/>
            </a:xfrm>
            <a:custGeom>
              <a:avLst/>
              <a:gdLst/>
              <a:ahLst/>
              <a:cxnLst/>
              <a:rect l="l" t="t" r="r" b="b"/>
              <a:pathLst>
                <a:path w="10881360" h="1005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771632" y="0"/>
                  </a:lnTo>
                  <a:cubicBezTo>
                    <a:pt x="10832211" y="0"/>
                    <a:pt x="10881360" y="49149"/>
                    <a:pt x="10881360" y="109728"/>
                  </a:cubicBezTo>
                  <a:lnTo>
                    <a:pt x="10881360" y="896112"/>
                  </a:lnTo>
                  <a:cubicBezTo>
                    <a:pt x="10881360" y="956691"/>
                    <a:pt x="10832211" y="1005840"/>
                    <a:pt x="1077163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2263140"/>
            <a:ext cx="8161020" cy="754380"/>
            <a:chOff x="0" y="0"/>
            <a:chExt cx="10881360" cy="10058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881360" cy="1005840"/>
            </a:xfrm>
            <a:custGeom>
              <a:avLst/>
              <a:gdLst/>
              <a:ahLst/>
              <a:cxnLst/>
              <a:rect l="l" t="t" r="r" b="b"/>
              <a:pathLst>
                <a:path w="10881360" h="1005840">
                  <a:moveTo>
                    <a:pt x="0" y="0"/>
                  </a:moveTo>
                  <a:lnTo>
                    <a:pt x="10881360" y="0"/>
                  </a:lnTo>
                  <a:lnTo>
                    <a:pt x="10881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792" b="-1607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08813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IMPLEMENTED TODAY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7280" y="3291840"/>
            <a:ext cx="7406640" cy="4937760"/>
            <a:chOff x="0" y="0"/>
            <a:chExt cx="9875520" cy="65836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875520" cy="6583680"/>
            </a:xfrm>
            <a:custGeom>
              <a:avLst/>
              <a:gdLst/>
              <a:ahLst/>
              <a:cxnLst/>
              <a:rect l="l" t="t" r="r" b="b"/>
              <a:pathLst>
                <a:path w="9875520" h="6583680">
                  <a:moveTo>
                    <a:pt x="0" y="0"/>
                  </a:moveTo>
                  <a:lnTo>
                    <a:pt x="9875520" y="0"/>
                  </a:lnTo>
                  <a:lnTo>
                    <a:pt x="987552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9875520" cy="6659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52901" lvl="1" indent="-176451" algn="l">
                <a:lnSpc>
                  <a:spcPts val="2690"/>
                </a:lnSpc>
                <a:buFont typeface="Arial"/>
                <a:buChar char="•"/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IBM Bob for planning, code generation, debugging, and iterative improvement</a:t>
              </a:r>
            </a:p>
            <a:p>
              <a:pPr marL="352901" lvl="1" indent="-176451" algn="l">
                <a:lnSpc>
                  <a:spcPts val="2690"/>
                </a:lnSpc>
                <a:buFont typeface="Arial"/>
                <a:buChar char="•"/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+ GitHub Actions for version control and CI validation</a:t>
              </a:r>
            </a:p>
            <a:p>
              <a:pPr marL="352901" lvl="1" indent="-176451" algn="l">
                <a:lnSpc>
                  <a:spcPts val="2690"/>
                </a:lnSpc>
                <a:buFont typeface="Arial"/>
                <a:buChar char="•"/>
              </a:pPr>
              <a:r>
                <a:rPr lang="en-US" sz="195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PRR / χ² / checklist logic is deterministic, auditable Python — Bob helped build it but doesn't run inside live scoring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95460" y="2263140"/>
            <a:ext cx="8161020" cy="6172200"/>
            <a:chOff x="0" y="0"/>
            <a:chExt cx="10881360" cy="8229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881361" cy="8229600"/>
            </a:xfrm>
            <a:custGeom>
              <a:avLst/>
              <a:gdLst/>
              <a:ahLst/>
              <a:cxnLst/>
              <a:rect l="l" t="t" r="r" b="b"/>
              <a:pathLst>
                <a:path w="10881361" h="8229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8083296"/>
                  </a:lnTo>
                  <a:cubicBezTo>
                    <a:pt x="10881361" y="8164068"/>
                    <a:pt x="10815828" y="8229600"/>
                    <a:pt x="10735056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395460" y="2263140"/>
            <a:ext cx="8161020" cy="754380"/>
            <a:chOff x="0" y="0"/>
            <a:chExt cx="10881360" cy="1005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881360" cy="1005840"/>
            </a:xfrm>
            <a:custGeom>
              <a:avLst/>
              <a:gdLst/>
              <a:ahLst/>
              <a:cxnLst/>
              <a:rect l="l" t="t" r="r" b="b"/>
              <a:pathLst>
                <a:path w="10881360" h="1005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771632" y="0"/>
                  </a:lnTo>
                  <a:cubicBezTo>
                    <a:pt x="10832211" y="0"/>
                    <a:pt x="10881360" y="49149"/>
                    <a:pt x="10881360" y="109728"/>
                  </a:cubicBezTo>
                  <a:lnTo>
                    <a:pt x="10881360" y="896112"/>
                  </a:lnTo>
                  <a:cubicBezTo>
                    <a:pt x="10881360" y="956691"/>
                    <a:pt x="10832211" y="1005840"/>
                    <a:pt x="1077163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95460" y="2263140"/>
            <a:ext cx="8161020" cy="754380"/>
            <a:chOff x="0" y="0"/>
            <a:chExt cx="10881360" cy="10058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881360" cy="1005840"/>
            </a:xfrm>
            <a:custGeom>
              <a:avLst/>
              <a:gdLst/>
              <a:ahLst/>
              <a:cxnLst/>
              <a:rect l="l" t="t" r="r" b="b"/>
              <a:pathLst>
                <a:path w="10881360" h="1005840">
                  <a:moveTo>
                    <a:pt x="0" y="0"/>
                  </a:moveTo>
                  <a:lnTo>
                    <a:pt x="10881360" y="0"/>
                  </a:lnTo>
                  <a:lnTo>
                    <a:pt x="10881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792" b="-1607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08813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FUTURE ROADMAP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806940" y="3291840"/>
            <a:ext cx="7406640" cy="4937760"/>
            <a:chOff x="0" y="0"/>
            <a:chExt cx="9875520" cy="65836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875520" cy="6583680"/>
            </a:xfrm>
            <a:custGeom>
              <a:avLst/>
              <a:gdLst/>
              <a:ahLst/>
              <a:cxnLst/>
              <a:rect l="l" t="t" r="r" b="b"/>
              <a:pathLst>
                <a:path w="9875520" h="6583680">
                  <a:moveTo>
                    <a:pt x="0" y="0"/>
                  </a:moveTo>
                  <a:lnTo>
                    <a:pt x="9875520" y="0"/>
                  </a:lnTo>
                  <a:lnTo>
                    <a:pt x="987552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9875520" cy="6650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8" lvl="1" indent="-169664" algn="l">
                <a:lnSpc>
                  <a:spcPts val="2587"/>
                </a:lnSpc>
                <a:buFont typeface="Arial"/>
                <a:buChar char="•"/>
              </a:pPr>
              <a:r>
                <a:rPr lang="en-US" sz="187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watsonx.ai foundation models as an explanation layer — turning outputs into plain-English, regulator-style summaries</a:t>
              </a:r>
            </a:p>
            <a:p>
              <a:pPr marL="339328" lvl="1" indent="-169664" algn="l">
                <a:lnSpc>
                  <a:spcPts val="2587"/>
                </a:lnSpc>
                <a:buFont typeface="Arial"/>
                <a:buChar char="•"/>
              </a:pPr>
              <a:r>
                <a:rPr lang="en-US" sz="187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watsonx embeddings to group related adverse-event terms and CTD sections for smarter triage</a:t>
              </a:r>
            </a:p>
            <a:p>
              <a:pPr marL="339328" lvl="1" indent="-169664" algn="l">
                <a:lnSpc>
                  <a:spcPts val="2587"/>
                </a:lnSpc>
                <a:buFont typeface="Arial"/>
                <a:buChar char="•"/>
              </a:pPr>
              <a:r>
                <a:rPr lang="en-US" sz="187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Retrieval-augmented querying over regulatory guidance documents</a:t>
              </a:r>
            </a:p>
            <a:p>
              <a:pPr marL="339328" lvl="1" indent="-169664" algn="l">
                <a:lnSpc>
                  <a:spcPts val="2587"/>
                </a:lnSpc>
                <a:buFont typeface="Arial"/>
                <a:buChar char="•"/>
              </a:pPr>
              <a:r>
                <a:rPr lang="en-US" sz="187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Agentic, governed multi-step review workflows on watsonx Orchestrate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800" y="8641080"/>
            <a:ext cx="16870680" cy="1165860"/>
            <a:chOff x="0" y="0"/>
            <a:chExt cx="22494240" cy="15544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494241" cy="1554480"/>
            </a:xfrm>
            <a:custGeom>
              <a:avLst/>
              <a:gdLst/>
              <a:ahLst/>
              <a:cxnLst/>
              <a:rect l="l" t="t" r="r" b="b"/>
              <a:pathLst>
                <a:path w="22494241" h="1554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347937" y="0"/>
                  </a:lnTo>
                  <a:cubicBezTo>
                    <a:pt x="22428708" y="0"/>
                    <a:pt x="22494241" y="65532"/>
                    <a:pt x="22494241" y="146304"/>
                  </a:cubicBezTo>
                  <a:lnTo>
                    <a:pt x="22494241" y="1408176"/>
                  </a:lnTo>
                  <a:cubicBezTo>
                    <a:pt x="22494241" y="1488948"/>
                    <a:pt x="22428708" y="1554480"/>
                    <a:pt x="22347937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7280" y="8641080"/>
            <a:ext cx="16047720" cy="1165860"/>
            <a:chOff x="0" y="0"/>
            <a:chExt cx="21396960" cy="15544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396961" cy="1554480"/>
            </a:xfrm>
            <a:custGeom>
              <a:avLst/>
              <a:gdLst/>
              <a:ahLst/>
              <a:cxnLst/>
              <a:rect l="l" t="t" r="r" b="b"/>
              <a:pathLst>
                <a:path w="21396961" h="1554480">
                  <a:moveTo>
                    <a:pt x="0" y="0"/>
                  </a:moveTo>
                  <a:lnTo>
                    <a:pt x="21396961" y="0"/>
                  </a:lnTo>
                  <a:lnTo>
                    <a:pt x="213969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8205" b="-21820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21396960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i="1">
                  <a:solidFill>
                    <a:srgbClr val="02C3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“We used IBM Bob to build SafetySentinel — we're not claiming a live Bob/watsonx API powers today's running app.”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C39A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617220"/>
            <a:ext cx="754380" cy="754380"/>
            <a:chOff x="0" y="0"/>
            <a:chExt cx="100584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52120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463" b="-3234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Beyond the Hackathon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500" y="1261872"/>
            <a:ext cx="15773400" cy="480060"/>
            <a:chOff x="0" y="0"/>
            <a:chExt cx="210312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prototype to a pharmacovigilance &amp; regulatory intelligence platform.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2263140"/>
            <a:ext cx="5417820" cy="1165860"/>
            <a:chOff x="0" y="0"/>
            <a:chExt cx="7223760" cy="15544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23760" cy="1554480"/>
            </a:xfrm>
            <a:custGeom>
              <a:avLst/>
              <a:gdLst/>
              <a:ahLst/>
              <a:cxnLst/>
              <a:rect l="l" t="t" r="r" b="b"/>
              <a:pathLst>
                <a:path w="7223760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1444752"/>
                  </a:lnTo>
                  <a:cubicBezTo>
                    <a:pt x="7223760" y="1505331"/>
                    <a:pt x="7174611" y="1554480"/>
                    <a:pt x="711403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0120" y="2359152"/>
            <a:ext cx="4937760" cy="411480"/>
            <a:chOff x="0" y="0"/>
            <a:chExt cx="658368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583680" cy="548640"/>
            </a:xfrm>
            <a:custGeom>
              <a:avLst/>
              <a:gdLst/>
              <a:ahLst/>
              <a:cxnLst/>
              <a:rect l="l" t="t" r="r" b="b"/>
              <a:pathLst>
                <a:path w="6583680" h="54864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65836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0120" y="2715768"/>
            <a:ext cx="4937760" cy="617220"/>
            <a:chOff x="0" y="0"/>
            <a:chExt cx="6583680" cy="8229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83680" cy="822960"/>
            </a:xfrm>
            <a:custGeom>
              <a:avLst/>
              <a:gdLst/>
              <a:ahLst/>
              <a:cxnLst/>
              <a:rect l="l" t="t" r="r" b="b"/>
              <a:pathLst>
                <a:path w="6583680" h="822960">
                  <a:moveTo>
                    <a:pt x="0" y="0"/>
                  </a:moveTo>
                  <a:lnTo>
                    <a:pt x="6583680" y="0"/>
                  </a:lnTo>
                  <a:lnTo>
                    <a:pt x="6583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65836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Real Data, Governed Access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3634740"/>
            <a:ext cx="5417820" cy="3429000"/>
            <a:chOff x="0" y="0"/>
            <a:chExt cx="7223760" cy="4572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23761" cy="4572000"/>
            </a:xfrm>
            <a:custGeom>
              <a:avLst/>
              <a:gdLst/>
              <a:ahLst/>
              <a:cxnLst/>
              <a:rect l="l" t="t" r="r" b="b"/>
              <a:pathLst>
                <a:path w="7223761" h="4572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7456" y="0"/>
                  </a:lnTo>
                  <a:cubicBezTo>
                    <a:pt x="7158228" y="0"/>
                    <a:pt x="7223761" y="65532"/>
                    <a:pt x="7223761" y="146304"/>
                  </a:cubicBezTo>
                  <a:lnTo>
                    <a:pt x="7223761" y="4425696"/>
                  </a:lnTo>
                  <a:cubicBezTo>
                    <a:pt x="7223761" y="4506468"/>
                    <a:pt x="7158228" y="4572000"/>
                    <a:pt x="7077456" y="4572000"/>
                  </a:cubicBezTo>
                  <a:lnTo>
                    <a:pt x="146304" y="4572000"/>
                  </a:lnTo>
                  <a:cubicBezTo>
                    <a:pt x="65532" y="4572000"/>
                    <a:pt x="0" y="4506468"/>
                    <a:pt x="0" y="442569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3909060"/>
            <a:ext cx="4800600" cy="2948940"/>
            <a:chOff x="0" y="0"/>
            <a:chExt cx="6400800" cy="39319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400800" cy="3931920"/>
            </a:xfrm>
            <a:custGeom>
              <a:avLst/>
              <a:gdLst/>
              <a:ahLst/>
              <a:cxnLst/>
              <a:rect l="l" t="t" r="r" b="b"/>
              <a:pathLst>
                <a:path w="6400800" h="3931920">
                  <a:moveTo>
                    <a:pt x="0" y="0"/>
                  </a:moveTo>
                  <a:lnTo>
                    <a:pt x="6400800" y="0"/>
                  </a:lnTo>
                  <a:lnTo>
                    <a:pt x="6400800" y="3931920"/>
                  </a:lnTo>
                  <a:lnTo>
                    <a:pt x="0" y="393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815" r="-2881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6400800" cy="3998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5755" lvl="1" indent="-162878" algn="l">
                <a:lnSpc>
                  <a:spcPts val="2483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to governed FAERS/AEMS extracts</a:t>
              </a:r>
            </a:p>
            <a:p>
              <a:pPr marL="325755" lvl="1" indent="-162878" algn="l">
                <a:lnSpc>
                  <a:spcPts val="2483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Internal case-processing systems</a:t>
              </a:r>
            </a:p>
            <a:p>
              <a:pPr marL="325755" lvl="1" indent="-162878" algn="l">
                <a:lnSpc>
                  <a:spcPts val="2483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regulatory datasets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77940" y="2263140"/>
            <a:ext cx="5417820" cy="1165860"/>
            <a:chOff x="0" y="0"/>
            <a:chExt cx="7223760" cy="15544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23760" cy="1554480"/>
            </a:xfrm>
            <a:custGeom>
              <a:avLst/>
              <a:gdLst/>
              <a:ahLst/>
              <a:cxnLst/>
              <a:rect l="l" t="t" r="r" b="b"/>
              <a:pathLst>
                <a:path w="7223760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1444752"/>
                  </a:lnTo>
                  <a:cubicBezTo>
                    <a:pt x="7223760" y="1505331"/>
                    <a:pt x="7174611" y="1554480"/>
                    <a:pt x="711403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52260" y="2359152"/>
            <a:ext cx="4937760" cy="411480"/>
            <a:chOff x="0" y="0"/>
            <a:chExt cx="658368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583680" cy="548640"/>
            </a:xfrm>
            <a:custGeom>
              <a:avLst/>
              <a:gdLst/>
              <a:ahLst/>
              <a:cxnLst/>
              <a:rect l="l" t="t" r="r" b="b"/>
              <a:pathLst>
                <a:path w="6583680" h="54864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65836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52260" y="2715768"/>
            <a:ext cx="4937760" cy="617220"/>
            <a:chOff x="0" y="0"/>
            <a:chExt cx="6583680" cy="8229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583680" cy="822960"/>
            </a:xfrm>
            <a:custGeom>
              <a:avLst/>
              <a:gdLst/>
              <a:ahLst/>
              <a:cxnLst/>
              <a:rect l="l" t="t" r="r" b="b"/>
              <a:pathLst>
                <a:path w="6583680" h="822960">
                  <a:moveTo>
                    <a:pt x="0" y="0"/>
                  </a:moveTo>
                  <a:lnTo>
                    <a:pt x="6583680" y="0"/>
                  </a:lnTo>
                  <a:lnTo>
                    <a:pt x="6583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65836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Smarter Signal Triage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77940" y="3634740"/>
            <a:ext cx="5417820" cy="3429000"/>
            <a:chOff x="0" y="0"/>
            <a:chExt cx="7223760" cy="4572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223761" cy="4572000"/>
            </a:xfrm>
            <a:custGeom>
              <a:avLst/>
              <a:gdLst/>
              <a:ahLst/>
              <a:cxnLst/>
              <a:rect l="l" t="t" r="r" b="b"/>
              <a:pathLst>
                <a:path w="7223761" h="4572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7456" y="0"/>
                  </a:lnTo>
                  <a:cubicBezTo>
                    <a:pt x="7158228" y="0"/>
                    <a:pt x="7223761" y="65532"/>
                    <a:pt x="7223761" y="146304"/>
                  </a:cubicBezTo>
                  <a:lnTo>
                    <a:pt x="7223761" y="4425696"/>
                  </a:lnTo>
                  <a:cubicBezTo>
                    <a:pt x="7223761" y="4506468"/>
                    <a:pt x="7158228" y="4572000"/>
                    <a:pt x="7077456" y="4572000"/>
                  </a:cubicBezTo>
                  <a:lnTo>
                    <a:pt x="146304" y="4572000"/>
                  </a:lnTo>
                  <a:cubicBezTo>
                    <a:pt x="65532" y="4572000"/>
                    <a:pt x="0" y="4506468"/>
                    <a:pt x="0" y="442569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20840" y="3909060"/>
            <a:ext cx="4800600" cy="2948940"/>
            <a:chOff x="0" y="0"/>
            <a:chExt cx="6400800" cy="39319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400800" cy="3931920"/>
            </a:xfrm>
            <a:custGeom>
              <a:avLst/>
              <a:gdLst/>
              <a:ahLst/>
              <a:cxnLst/>
              <a:rect l="l" t="t" r="r" b="b"/>
              <a:pathLst>
                <a:path w="6400800" h="3931920">
                  <a:moveTo>
                    <a:pt x="0" y="0"/>
                  </a:moveTo>
                  <a:lnTo>
                    <a:pt x="6400800" y="0"/>
                  </a:lnTo>
                  <a:lnTo>
                    <a:pt x="6400800" y="3931920"/>
                  </a:lnTo>
                  <a:lnTo>
                    <a:pt x="0" y="393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815" r="-2881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6400800" cy="3998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5755" lvl="1" indent="-162878" algn="l">
                <a:lnSpc>
                  <a:spcPts val="2483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ROR, IC, EBGM alongside PRR</a:t>
              </a:r>
            </a:p>
            <a:p>
              <a:pPr marL="325755" lvl="1" indent="-162878" algn="l">
                <a:lnSpc>
                  <a:spcPts val="2483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Temporal trend + duplicate detection</a:t>
              </a:r>
            </a:p>
            <a:p>
              <a:pPr marL="325755" lvl="1" indent="-162878" algn="l">
                <a:lnSpc>
                  <a:spcPts val="2483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MedDRA-aware clustering, severity weighting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070080" y="2263140"/>
            <a:ext cx="5417820" cy="1165860"/>
            <a:chOff x="0" y="0"/>
            <a:chExt cx="7223760" cy="15544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223760" cy="1554480"/>
            </a:xfrm>
            <a:custGeom>
              <a:avLst/>
              <a:gdLst/>
              <a:ahLst/>
              <a:cxnLst/>
              <a:rect l="l" t="t" r="r" b="b"/>
              <a:pathLst>
                <a:path w="7223760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1444752"/>
                  </a:lnTo>
                  <a:cubicBezTo>
                    <a:pt x="7223760" y="1505331"/>
                    <a:pt x="7174611" y="1554480"/>
                    <a:pt x="711403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344400" y="2359152"/>
            <a:ext cx="4937760" cy="411480"/>
            <a:chOff x="0" y="0"/>
            <a:chExt cx="658368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583680" cy="548640"/>
            </a:xfrm>
            <a:custGeom>
              <a:avLst/>
              <a:gdLst/>
              <a:ahLst/>
              <a:cxnLst/>
              <a:rect l="l" t="t" r="r" b="b"/>
              <a:pathLst>
                <a:path w="6583680" h="54864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65836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344400" y="2715768"/>
            <a:ext cx="4937760" cy="617220"/>
            <a:chOff x="0" y="0"/>
            <a:chExt cx="6583680" cy="8229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583680" cy="822960"/>
            </a:xfrm>
            <a:custGeom>
              <a:avLst/>
              <a:gdLst/>
              <a:ahLst/>
              <a:cxnLst/>
              <a:rect l="l" t="t" r="r" b="b"/>
              <a:pathLst>
                <a:path w="6583680" h="822960">
                  <a:moveTo>
                    <a:pt x="0" y="0"/>
                  </a:moveTo>
                  <a:lnTo>
                    <a:pt x="6583680" y="0"/>
                  </a:lnTo>
                  <a:lnTo>
                    <a:pt x="6583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65836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Submission Copilot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070080" y="3634740"/>
            <a:ext cx="5417820" cy="3429000"/>
            <a:chOff x="0" y="0"/>
            <a:chExt cx="7223760" cy="45720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223761" cy="4572000"/>
            </a:xfrm>
            <a:custGeom>
              <a:avLst/>
              <a:gdLst/>
              <a:ahLst/>
              <a:cxnLst/>
              <a:rect l="l" t="t" r="r" b="b"/>
              <a:pathLst>
                <a:path w="7223761" h="4572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7456" y="0"/>
                  </a:lnTo>
                  <a:cubicBezTo>
                    <a:pt x="7158228" y="0"/>
                    <a:pt x="7223761" y="65532"/>
                    <a:pt x="7223761" y="146304"/>
                  </a:cubicBezTo>
                  <a:lnTo>
                    <a:pt x="7223761" y="4425696"/>
                  </a:lnTo>
                  <a:cubicBezTo>
                    <a:pt x="7223761" y="4506468"/>
                    <a:pt x="7158228" y="4572000"/>
                    <a:pt x="7077456" y="4572000"/>
                  </a:cubicBezTo>
                  <a:lnTo>
                    <a:pt x="146304" y="4572000"/>
                  </a:lnTo>
                  <a:cubicBezTo>
                    <a:pt x="65532" y="4572000"/>
                    <a:pt x="0" y="4506468"/>
                    <a:pt x="0" y="4425696"/>
                  </a:cubicBezTo>
                  <a:close/>
                </a:path>
              </a:pathLst>
            </a:custGeom>
            <a:solidFill>
              <a:srgbClr val="EAF2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412980" y="3909060"/>
            <a:ext cx="4800600" cy="2948940"/>
            <a:chOff x="0" y="0"/>
            <a:chExt cx="6400800" cy="39319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400800" cy="3931920"/>
            </a:xfrm>
            <a:custGeom>
              <a:avLst/>
              <a:gdLst/>
              <a:ahLst/>
              <a:cxnLst/>
              <a:rect l="l" t="t" r="r" b="b"/>
              <a:pathLst>
                <a:path w="6400800" h="3931920">
                  <a:moveTo>
                    <a:pt x="0" y="0"/>
                  </a:moveTo>
                  <a:lnTo>
                    <a:pt x="6400800" y="0"/>
                  </a:lnTo>
                  <a:lnTo>
                    <a:pt x="6400800" y="3931920"/>
                  </a:lnTo>
                  <a:lnTo>
                    <a:pt x="0" y="393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815" r="-2881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66675"/>
              <a:ext cx="6400800" cy="3998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5755" lvl="1" indent="-162878" algn="l">
                <a:lnSpc>
                  <a:spcPts val="2483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Cross-document consistency checks</a:t>
              </a:r>
            </a:p>
            <a:p>
              <a:pPr marL="325755" lvl="1" indent="-162878" algn="l">
                <a:lnSpc>
                  <a:spcPts val="2483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Catch conflicting values across modules</a:t>
              </a:r>
            </a:p>
            <a:p>
              <a:pPr marL="325755" lvl="1" indent="-162878" algn="l">
                <a:lnSpc>
                  <a:spcPts val="2483"/>
                </a:lnSpc>
                <a:buFont typeface="Arial"/>
                <a:buChar char="•"/>
              </a:pPr>
              <a:r>
                <a:rPr lang="en-US" sz="1800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Flag stale cross-references automatically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85800" y="7338060"/>
            <a:ext cx="16870680" cy="1988820"/>
            <a:chOff x="0" y="0"/>
            <a:chExt cx="22494240" cy="26517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2494241" cy="2651760"/>
            </a:xfrm>
            <a:custGeom>
              <a:avLst/>
              <a:gdLst/>
              <a:ahLst/>
              <a:cxnLst/>
              <a:rect l="l" t="t" r="r" b="b"/>
              <a:pathLst>
                <a:path w="22494241" h="2651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347937" y="0"/>
                  </a:lnTo>
                  <a:cubicBezTo>
                    <a:pt x="22428708" y="0"/>
                    <a:pt x="22494241" y="65532"/>
                    <a:pt x="22494241" y="146304"/>
                  </a:cubicBezTo>
                  <a:lnTo>
                    <a:pt x="22494241" y="2505456"/>
                  </a:lnTo>
                  <a:cubicBezTo>
                    <a:pt x="22494241" y="2586228"/>
                    <a:pt x="22428708" y="2651760"/>
                    <a:pt x="22347937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21295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65860" y="7475220"/>
            <a:ext cx="15910560" cy="1714500"/>
            <a:chOff x="0" y="0"/>
            <a:chExt cx="21214080" cy="2286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1214080" cy="2286000"/>
            </a:xfrm>
            <a:custGeom>
              <a:avLst/>
              <a:gdLst/>
              <a:ahLst/>
              <a:cxnLst/>
              <a:rect l="l" t="t" r="r" b="b"/>
              <a:pathLst>
                <a:path w="21214080" h="2286000">
                  <a:moveTo>
                    <a:pt x="0" y="0"/>
                  </a:moveTo>
                  <a:lnTo>
                    <a:pt x="21214080" y="0"/>
                  </a:lnTo>
                  <a:lnTo>
                    <a:pt x="212140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0821" b="-13082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21214080" cy="2333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Goal: turn thousands of raw statistical candidates and hundreds of dossier sections into a small, ranked, explainable human-review queue — better-triaged, not just fewer, numbers.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1600" y="-1645920"/>
            <a:ext cx="4389120" cy="4389120"/>
            <a:chOff x="0" y="0"/>
            <a:chExt cx="5852160" cy="5852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52160" cy="5852160"/>
            </a:xfrm>
            <a:custGeom>
              <a:avLst/>
              <a:gdLst/>
              <a:ahLst/>
              <a:cxnLst/>
              <a:rect l="l" t="t" r="r" b="b"/>
              <a:pathLst>
                <a:path w="5852160" h="5852160">
                  <a:moveTo>
                    <a:pt x="0" y="2926080"/>
                  </a:moveTo>
                  <a:cubicBezTo>
                    <a:pt x="0" y="1310005"/>
                    <a:pt x="1310005" y="0"/>
                    <a:pt x="2926080" y="0"/>
                  </a:cubicBezTo>
                  <a:cubicBezTo>
                    <a:pt x="4542155" y="0"/>
                    <a:pt x="5852160" y="1310005"/>
                    <a:pt x="5852160" y="2926080"/>
                  </a:cubicBezTo>
                  <a:cubicBezTo>
                    <a:pt x="5852160" y="4542155"/>
                    <a:pt x="4542155" y="5852160"/>
                    <a:pt x="2926080" y="5852160"/>
                  </a:cubicBezTo>
                  <a:cubicBezTo>
                    <a:pt x="1310005" y="5852160"/>
                    <a:pt x="0" y="4542155"/>
                    <a:pt x="0" y="292608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36240" y="8092440"/>
            <a:ext cx="3566160" cy="3566160"/>
            <a:chOff x="0" y="0"/>
            <a:chExt cx="4754880" cy="4754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54880" cy="4754880"/>
            </a:xfrm>
            <a:custGeom>
              <a:avLst/>
              <a:gdLst/>
              <a:ahLst/>
              <a:cxnLst/>
              <a:rect l="l" t="t" r="r" b="b"/>
              <a:pathLst>
                <a:path w="4754880" h="4754880">
                  <a:moveTo>
                    <a:pt x="0" y="2377440"/>
                  </a:moveTo>
                  <a:cubicBezTo>
                    <a:pt x="0" y="1064387"/>
                    <a:pt x="1064387" y="0"/>
                    <a:pt x="2377440" y="0"/>
                  </a:cubicBezTo>
                  <a:cubicBezTo>
                    <a:pt x="3690493" y="0"/>
                    <a:pt x="4754880" y="1064387"/>
                    <a:pt x="4754880" y="2377440"/>
                  </a:cubicBezTo>
                  <a:cubicBezTo>
                    <a:pt x="4754880" y="3690493"/>
                    <a:pt x="3690493" y="4754880"/>
                    <a:pt x="2377440" y="4754880"/>
                  </a:cubicBezTo>
                  <a:cubicBezTo>
                    <a:pt x="1064387" y="4754880"/>
                    <a:pt x="0" y="3690493"/>
                    <a:pt x="0" y="2377440"/>
                  </a:cubicBezTo>
                  <a:close/>
                </a:path>
              </a:pathLst>
            </a:custGeom>
            <a:solidFill>
              <a:srgbClr val="1C7293">
                <a:alpha val="3568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7280" y="822960"/>
            <a:ext cx="10972800" cy="960120"/>
            <a:chOff x="0" y="0"/>
            <a:chExt cx="14630400" cy="12801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0400" cy="1280160"/>
            </a:xfrm>
            <a:custGeom>
              <a:avLst/>
              <a:gdLst/>
              <a:ahLst/>
              <a:cxnLst/>
              <a:rect l="l" t="t" r="r" b="b"/>
              <a:pathLst>
                <a:path w="14630400" h="128016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SafetySentinel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7280" y="1783080"/>
            <a:ext cx="12344400" cy="685800"/>
            <a:chOff x="0" y="0"/>
            <a:chExt cx="16459200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59200" cy="914400"/>
            </a:xfrm>
            <a:custGeom>
              <a:avLst/>
              <a:gdLst/>
              <a:ahLst/>
              <a:cxnLst/>
              <a:rect l="l" t="t" r="r" b="b"/>
              <a:pathLst>
                <a:path w="16459200" h="9144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4592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i="1">
                  <a:solidFill>
                    <a:srgbClr val="02C3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Detect earlier. Review smarter. Submit with confidence.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4440" y="3291840"/>
            <a:ext cx="7269480" cy="1028700"/>
            <a:chOff x="0" y="0"/>
            <a:chExt cx="9692640" cy="1371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92640" cy="1371600"/>
            </a:xfrm>
            <a:custGeom>
              <a:avLst/>
              <a:gdLst/>
              <a:ahLst/>
              <a:cxnLst/>
              <a:rect l="l" t="t" r="r" b="b"/>
              <a:pathLst>
                <a:path w="9692640" h="1371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82912" y="0"/>
                  </a:lnTo>
                  <a:cubicBezTo>
                    <a:pt x="9643491" y="0"/>
                    <a:pt x="9692640" y="49149"/>
                    <a:pt x="9692640" y="109728"/>
                  </a:cubicBezTo>
                  <a:lnTo>
                    <a:pt x="9692640" y="1261872"/>
                  </a:lnTo>
                  <a:cubicBezTo>
                    <a:pt x="9692640" y="1322451"/>
                    <a:pt x="9643491" y="1371600"/>
                    <a:pt x="958291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065A8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4440" y="3291840"/>
            <a:ext cx="7269480" cy="1028700"/>
            <a:chOff x="0" y="0"/>
            <a:chExt cx="9692640" cy="1371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92640" cy="1371600"/>
            </a:xfrm>
            <a:custGeom>
              <a:avLst/>
              <a:gdLst/>
              <a:ahLst/>
              <a:cxnLst/>
              <a:rect l="l" t="t" r="r" b="b"/>
              <a:pathLst>
                <a:path w="9692640" h="1371600">
                  <a:moveTo>
                    <a:pt x="0" y="0"/>
                  </a:moveTo>
                  <a:lnTo>
                    <a:pt x="9692640" y="0"/>
                  </a:lnTo>
                  <a:lnTo>
                    <a:pt x="96926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694" b="-876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6926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DRUG SAFETY — detect signals, investigate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94006" y="3301093"/>
            <a:ext cx="7269480" cy="1028700"/>
            <a:chOff x="0" y="0"/>
            <a:chExt cx="9692640" cy="1371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692640" cy="1371600"/>
            </a:xfrm>
            <a:custGeom>
              <a:avLst/>
              <a:gdLst/>
              <a:ahLst/>
              <a:cxnLst/>
              <a:rect l="l" t="t" r="r" b="b"/>
              <a:pathLst>
                <a:path w="9692640" h="1371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82912" y="0"/>
                  </a:lnTo>
                  <a:cubicBezTo>
                    <a:pt x="9643491" y="0"/>
                    <a:pt x="9692640" y="49149"/>
                    <a:pt x="9692640" y="109728"/>
                  </a:cubicBezTo>
                  <a:lnTo>
                    <a:pt x="9692640" y="1261872"/>
                  </a:lnTo>
                  <a:cubicBezTo>
                    <a:pt x="9692640" y="1322451"/>
                    <a:pt x="9643491" y="1371600"/>
                    <a:pt x="958291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64040" y="3291840"/>
            <a:ext cx="7269480" cy="1028700"/>
            <a:chOff x="0" y="0"/>
            <a:chExt cx="9692640" cy="1371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692640" cy="1371600"/>
            </a:xfrm>
            <a:custGeom>
              <a:avLst/>
              <a:gdLst/>
              <a:ahLst/>
              <a:cxnLst/>
              <a:rect l="l" t="t" r="r" b="b"/>
              <a:pathLst>
                <a:path w="9692640" h="1371600">
                  <a:moveTo>
                    <a:pt x="0" y="0"/>
                  </a:moveTo>
                  <a:lnTo>
                    <a:pt x="9692640" y="0"/>
                  </a:lnTo>
                  <a:lnTo>
                    <a:pt x="96926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694" b="-876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96926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REGULATORY — check readiness, fix gaps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6310868" y="4320540"/>
            <a:ext cx="1880877" cy="676563"/>
          </a:xfrm>
          <a:prstGeom prst="line">
            <a:avLst/>
          </a:prstGeom>
          <a:ln w="19050" cap="rnd">
            <a:solidFill>
              <a:srgbClr val="8FA6C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3"/>
          <p:cNvGrpSpPr/>
          <p:nvPr/>
        </p:nvGrpSpPr>
        <p:grpSpPr>
          <a:xfrm>
            <a:off x="5349240" y="5006340"/>
            <a:ext cx="7269480" cy="1028700"/>
            <a:chOff x="0" y="0"/>
            <a:chExt cx="9692640" cy="1371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692640" cy="1371600"/>
            </a:xfrm>
            <a:custGeom>
              <a:avLst/>
              <a:gdLst/>
              <a:ahLst/>
              <a:cxnLst/>
              <a:rect l="l" t="t" r="r" b="b"/>
              <a:pathLst>
                <a:path w="9692640" h="1371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82912" y="0"/>
                  </a:lnTo>
                  <a:cubicBezTo>
                    <a:pt x="9643491" y="0"/>
                    <a:pt x="9692640" y="49149"/>
                    <a:pt x="9692640" y="109728"/>
                  </a:cubicBezTo>
                  <a:lnTo>
                    <a:pt x="9692640" y="1261872"/>
                  </a:lnTo>
                  <a:cubicBezTo>
                    <a:pt x="9692640" y="1322451"/>
                    <a:pt x="9643491" y="1371600"/>
                    <a:pt x="958291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1C729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49240" y="5006340"/>
            <a:ext cx="7269480" cy="1028700"/>
            <a:chOff x="0" y="0"/>
            <a:chExt cx="9692640" cy="1371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692640" cy="1371600"/>
            </a:xfrm>
            <a:custGeom>
              <a:avLst/>
              <a:gdLst/>
              <a:ahLst/>
              <a:cxnLst/>
              <a:rect l="l" t="t" r="r" b="b"/>
              <a:pathLst>
                <a:path w="9692640" h="1371600">
                  <a:moveTo>
                    <a:pt x="0" y="0"/>
                  </a:moveTo>
                  <a:lnTo>
                    <a:pt x="9692640" y="0"/>
                  </a:lnTo>
                  <a:lnTo>
                    <a:pt x="96926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694" b="-876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96926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HUMAN EXPERT REVIEW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8983980" y="6054690"/>
            <a:ext cx="0" cy="577920"/>
          </a:xfrm>
          <a:prstGeom prst="line">
            <a:avLst/>
          </a:prstGeom>
          <a:ln w="19050" cap="rnd">
            <a:solidFill>
              <a:srgbClr val="8FA6C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9" name="Group 29"/>
          <p:cNvGrpSpPr/>
          <p:nvPr/>
        </p:nvGrpSpPr>
        <p:grpSpPr>
          <a:xfrm>
            <a:off x="5349240" y="6652260"/>
            <a:ext cx="7269480" cy="1028700"/>
            <a:chOff x="0" y="0"/>
            <a:chExt cx="9692640" cy="1371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692640" cy="1371600"/>
            </a:xfrm>
            <a:custGeom>
              <a:avLst/>
              <a:gdLst/>
              <a:ahLst/>
              <a:cxnLst/>
              <a:rect l="l" t="t" r="r" b="b"/>
              <a:pathLst>
                <a:path w="9692640" h="1371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82912" y="0"/>
                  </a:lnTo>
                  <a:cubicBezTo>
                    <a:pt x="9643491" y="0"/>
                    <a:pt x="9692640" y="49149"/>
                    <a:pt x="9692640" y="109728"/>
                  </a:cubicBezTo>
                  <a:lnTo>
                    <a:pt x="9692640" y="1261872"/>
                  </a:lnTo>
                  <a:cubicBezTo>
                    <a:pt x="9692640" y="1322451"/>
                    <a:pt x="9643491" y="1371600"/>
                    <a:pt x="958291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02C39A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49240" y="6652260"/>
            <a:ext cx="7269480" cy="1028700"/>
            <a:chOff x="0" y="0"/>
            <a:chExt cx="9692640" cy="1371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692640" cy="1371600"/>
            </a:xfrm>
            <a:custGeom>
              <a:avLst/>
              <a:gdLst/>
              <a:ahLst/>
              <a:cxnLst/>
              <a:rect l="l" t="t" r="r" b="b"/>
              <a:pathLst>
                <a:path w="9692640" h="1371600">
                  <a:moveTo>
                    <a:pt x="0" y="0"/>
                  </a:moveTo>
                  <a:lnTo>
                    <a:pt x="9692640" y="0"/>
                  </a:lnTo>
                  <a:lnTo>
                    <a:pt x="96926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694" b="-876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96926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BETTER, FASTER DECISIONS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49240" y="6652260"/>
            <a:ext cx="7269480" cy="1028700"/>
            <a:chOff x="0" y="0"/>
            <a:chExt cx="9692640" cy="13716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692640" cy="1371600"/>
            </a:xfrm>
            <a:custGeom>
              <a:avLst/>
              <a:gdLst/>
              <a:ahLst/>
              <a:cxnLst/>
              <a:rect l="l" t="t" r="r" b="b"/>
              <a:pathLst>
                <a:path w="9692640" h="1371600">
                  <a:moveTo>
                    <a:pt x="0" y="0"/>
                  </a:moveTo>
                  <a:lnTo>
                    <a:pt x="9692640" y="0"/>
                  </a:lnTo>
                  <a:lnTo>
                    <a:pt x="96926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694" b="-876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96926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BETTER, FASTER DECISIONS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34440" y="8161020"/>
            <a:ext cx="15499080" cy="960120"/>
            <a:chOff x="0" y="0"/>
            <a:chExt cx="20665440" cy="12801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665439" cy="1280160"/>
            </a:xfrm>
            <a:custGeom>
              <a:avLst/>
              <a:gdLst/>
              <a:ahLst/>
              <a:cxnLst/>
              <a:rect l="l" t="t" r="r" b="b"/>
              <a:pathLst>
                <a:path w="20665439" h="1280160">
                  <a:moveTo>
                    <a:pt x="0" y="0"/>
                  </a:moveTo>
                  <a:lnTo>
                    <a:pt x="20665439" y="0"/>
                  </a:lnTo>
                  <a:lnTo>
                    <a:pt x="206654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544" b="-26454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20665440" cy="1327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i="1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Make high-volume pharmacovigilance and regulatory review more proactive, explainable, and efficient — without ever removing the human expert who makes the final call.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97280" y="9464040"/>
            <a:ext cx="8229600" cy="480060"/>
            <a:chOff x="0" y="0"/>
            <a:chExt cx="10972800" cy="6400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FA6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SafetySentinel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 flipH="1">
            <a:off x="9846996" y="4329793"/>
            <a:ext cx="1977241" cy="576648"/>
          </a:xfrm>
          <a:prstGeom prst="line">
            <a:avLst/>
          </a:prstGeom>
          <a:ln w="19050" cap="rnd">
            <a:solidFill>
              <a:srgbClr val="8FA6C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</Words>
  <Application>Microsoft Office PowerPoint</Application>
  <PresentationFormat>Custom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 (MS) Italics</vt:lpstr>
      <vt:lpstr>Arial</vt:lpstr>
      <vt:lpstr>Calibri (MS) Bold</vt:lpstr>
      <vt:lpstr>Calibri</vt:lpstr>
      <vt:lpstr>Calibri (MS)</vt:lpstr>
      <vt:lpstr>Cambria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SafetySentinel_Deck.pptx</dc:title>
  <cp:lastModifiedBy>Janvi Patel</cp:lastModifiedBy>
  <cp:revision>2</cp:revision>
  <dcterms:created xsi:type="dcterms:W3CDTF">2006-08-16T00:00:00Z</dcterms:created>
  <dcterms:modified xsi:type="dcterms:W3CDTF">2026-09-14T05:56:47Z</dcterms:modified>
  <dc:identifier>DAHVGlCwrEA</dc:identifier>
</cp:coreProperties>
</file>